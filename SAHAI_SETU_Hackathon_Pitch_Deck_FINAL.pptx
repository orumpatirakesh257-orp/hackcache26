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tells the judge in five seconds what your project is.
Replace: project name, one-line pitch, team name and your problem statement track.
Tip: the one-line pitch should say what the user gets, not what technology you used. "The right papers, first time" beats "An AI-powered document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makes the judge feel the problem before you show your solution.
Replace the quote with a real one from a person you actually asked, and the numbers with real ones from your own quick survey (a WhatsApp poll to 10-20 people is enough). Say how you got them.
The numbers on this example slide are made up. Never invent yours: judges can tell, and "we asked 12 people" is more convincing than a big statistic you cannot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says what your app does in one sentence, and shows it.
Replace the drawn phone with a real screenshot of your app: drag a box around the phone to select all of it, press Delete, then Insert &gt; Image. Use the screen where the user gets the result.
Keep the three points to benefits the user notices, not features you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walks through the main journey, the same one your demo video shows.
Replace the three drawn phones with real screenshots, one per step: drag a box around each phone, press Delete, then Insert &gt; Image. If your journey has more than three steps, show the three that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answers "did they really build it, and do they understand it?" (the Technical Execution score).
List the tools you actually used, AI included. Be honest about what is real and what is simulated: judges read that as confidence, and they will find out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shows who benefits and that you have thought beyond the weekend (the Impact score).
Name specific groups of people, not "everyone". Keep "Next" to the three things you would genuinely build next,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tells judges who built it and where to try it.
Replace names, roles and both links with your real ones, and check each link in a private window before submitting. Share this deck with "Anyone with the link: Viewer" and paste that link into Deck URL on your HackCache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pic>
        <p:nvPicPr>
          <p:cNvPr id="2" name="Image 0" descr="/private/tmp/claude-501/-Users-nitinraina-cachedinfo/a7d1d877-a336-4565-adcb-7cbe51d8340f/scratchpad/deck/brand/lockup-on-dark.png">    </p:cNvPr>
          <p:cNvPicPr>
            <a:picLocks noChangeAspect="1"/>
          </p:cNvPicPr>
          <p:nvPr/>
        </p:nvPicPr>
        <p:blipFill>
          <a:blip r:embed="rId1"/>
          <a:stretch>
            <a:fillRect/>
          </a:stretch>
        </p:blipFill>
        <p:spPr>
          <a:xfrm>
            <a:off x="548640" y="384048"/>
            <a:ext cx="2450277" cy="347472"/>
          </a:xfrm>
          <a:prstGeom prst="rect">
            <a:avLst/>
          </a:prstGeom>
        </p:spPr>
      </p:pic>
      <p:pic>
        <p:nvPicPr>
          <p:cNvPr id="3" name="Image 1" descr="/private/tmp/claude-501/-Users-nitinraina-cachedinfo/a7d1d877-a336-4565-adcb-7cbe51d8340f/scratchpad/deck/brand/wordmark-on-dark.png">    </p:cNvPr>
          <p:cNvPicPr>
            <a:picLocks noChangeAspect="1"/>
          </p:cNvPicPr>
          <p:nvPr/>
        </p:nvPicPr>
        <p:blipFill>
          <a:blip r:embed="rId2"/>
          <a:stretch>
            <a:fillRect/>
          </a:stretch>
        </p:blipFill>
        <p:spPr>
          <a:xfrm>
            <a:off x="3273237" y="466344"/>
            <a:ext cx="2178220" cy="182880"/>
          </a:xfrm>
          <a:prstGeom prst="rect">
            <a:avLst/>
          </a:prstGeom>
        </p:spPr>
      </p:pic>
      <p:sp>
        <p:nvSpPr>
          <p:cNvPr id="4" name="Shape 0"/>
          <p:cNvSpPr/>
          <p:nvPr/>
        </p:nvSpPr>
        <p:spPr>
          <a:xfrm>
            <a:off x="548640" y="987552"/>
            <a:ext cx="2103120" cy="329184"/>
          </a:xfrm>
          <a:prstGeom prst="roundRect">
            <a:avLst>
              <a:gd name="adj" fmla="val 50000"/>
            </a:avLst>
          </a:prstGeom>
          <a:solidFill>
            <a:srgbClr val="1D2D52"/>
          </a:solidFill>
          <a:ln w="12700">
            <a:solidFill>
              <a:srgbClr val="F0A43A"/>
            </a:solidFill>
            <a:prstDash val="solid"/>
          </a:ln>
        </p:spPr>
        <p:txBody>
          <a:bodyPr/>
          <a:p/>
        </p:txBody>
      </p:sp>
      <p:sp>
        <p:nvSpPr>
          <p:cNvPr id="5" name="Text 1"/>
          <p:cNvSpPr txBox="1"/>
          <p:nvPr/>
        </p:nvSpPr>
        <p:spPr>
          <a:xfrm>
            <a:off x="548640" y="987552"/>
            <a:ext cx="2103120" cy="329184"/>
          </a:xfrm>
          <a:prstGeom prst="rect">
            <a:avLst/>
          </a:prstGeom>
          <a:noFill/>
          <a:ln/>
        </p:spPr>
        <p:txBody>
          <a:bodyPr wrap="square" lIns="0" tIns="0" rIns="0" bIns="0" rtlCol="0" anchor="ctr"/>
          <a:lstStyle/>
          <a:p>
            <a:pPr algn="ctr" indent="0" marL="0">
              <a:buNone/>
            </a:pPr>
            <a:r>
              <a:rPr lang="en-US" sz="1100" b="1" dirty="0">
                <a:solidFill>
                  <a:srgbClr val="F0A43A"/>
                </a:solidFill>
                <a:latin typeface="Arial" pitchFamily="34" charset="0"/>
                <a:ea typeface="Arial" pitchFamily="34" charset="-122"/>
                <a:cs typeface="Arial" pitchFamily="34" charset="-120"/>
              </a:rPr>
              <a:t>Smart Hospitals</a:t>
            </a:r>
            <a:endParaRPr lang="en-US" sz="1100" dirty="0"/>
          </a:p>
        </p:txBody>
      </p:sp>
      <p:sp>
        <p:nvSpPr>
          <p:cNvPr id="6" name="Text 2"/>
          <p:cNvSpPr txBox="1"/>
          <p:nvPr/>
        </p:nvSpPr>
        <p:spPr>
          <a:xfrm>
            <a:off x="548640" y="1417320"/>
            <a:ext cx="5120640" cy="109728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SAHAI SETU</a:t>
            </a:r>
            <a:endParaRPr lang="en-US" sz="7200" dirty="0"/>
          </a:p>
        </p:txBody>
      </p:sp>
      <p:sp>
        <p:nvSpPr>
          <p:cNvPr id="7" name="Text 3"/>
          <p:cNvSpPr txBox="1"/>
          <p:nvPr/>
        </p:nvSpPr>
        <p:spPr>
          <a:xfrm>
            <a:off x="548640" y="2560320"/>
            <a:ext cx="5120640" cy="502920"/>
          </a:xfrm>
          <a:prstGeom prst="rect">
            <a:avLst/>
          </a:prstGeom>
          <a:noFill/>
          <a:ln/>
        </p:spPr>
        <p:txBody>
          <a:bodyPr wrap="square" lIns="0" tIns="0" rIns="0" bIns="0" rtlCol="0" anchor="t"/>
          <a:lstStyle/>
          <a:p>
            <a:pPr indent="0" marL="0">
              <a:buNone/>
            </a:pPr>
            <a:r>
              <a:rPr lang="en-US" sz="2600" dirty="0">
                <a:solidFill>
                  <a:srgbClr val="B9C8F2"/>
                </a:solidFill>
                <a:latin typeface="Arial" pitchFamily="34" charset="0"/>
                <a:ea typeface="Arial" pitchFamily="34" charset="-122"/>
                <a:cs typeface="Arial" pitchFamily="34" charset="-120"/>
              </a:rPr>
              <a:t>Less waiting. Clear directions.</a:t>
            </a:r>
            <a:endParaRPr lang="en-US" sz="2600" dirty="0"/>
          </a:p>
        </p:txBody>
      </p:sp>
      <p:sp>
        <p:nvSpPr>
          <p:cNvPr id="8" name="Text 4"/>
          <p:cNvSpPr txBox="1"/>
          <p:nvPr/>
        </p:nvSpPr>
        <p:spPr>
          <a:xfrm>
            <a:off x="548640" y="3246120"/>
            <a:ext cx="4754880" cy="685800"/>
          </a:xfrm>
          <a:prstGeom prst="rect">
            <a:avLst/>
          </a:prstGeom>
          <a:noFill/>
          <a:ln/>
        </p:spPr>
        <p:txBody>
          <a:bodyPr wrap="square" lIns="0" tIns="0" rIns="0" bIns="0" rtlCol="0" anchor="t"/>
          <a:lstStyle/>
          <a:p>
            <a:pPr indent="0" marL="0">
              <a:buNone/>
            </a:pPr>
            <a:r>
              <a:rPr lang="en-US" sz="1400" dirty="0">
                <a:solidFill>
                  <a:srgbClr val="C9D3EA"/>
                </a:solidFill>
                <a:latin typeface="Arial" pitchFamily="34" charset="0"/>
                <a:ea typeface="Arial" pitchFamily="34" charset="-122"/>
                <a:cs typeface="Arial" pitchFamily="34" charset="-120"/>
              </a:rPr>
              <a:t>Register in your language, receive an OPD token, track your queue, and find the right hospital department.</a:t>
            </a:r>
            <a:endParaRPr lang="en-US" sz="1400" dirty="0"/>
          </a:p>
        </p:txBody>
      </p:sp>
      <p:sp>
        <p:nvSpPr>
          <p:cNvPr id="9" name="Text 5"/>
          <p:cNvSpPr txBox="1"/>
          <p:nvPr/>
        </p:nvSpPr>
        <p:spPr>
          <a:xfrm>
            <a:off x="548640" y="4251960"/>
            <a:ext cx="5120640" cy="274320"/>
          </a:xfrm>
          <a:prstGeom prst="rect">
            <a:avLst/>
          </a:prstGeom>
          <a:noFill/>
          <a:ln/>
        </p:spPr>
        <p:txBody>
          <a:bodyPr wrap="square" lIns="0" tIns="0" rIns="0" bIns="0" rtlCol="0" anchor="t"/>
          <a:lstStyle/>
          <a:p>
            <a:pPr indent="0" marL="0">
              <a:buNone/>
            </a:pPr>
            <a:r>
              <a:rPr lang="en-US" sz="1200" dirty="0">
                <a:solidFill>
                  <a:srgbClr val="9AA8C7"/>
                </a:solidFill>
                <a:latin typeface="Arial" pitchFamily="34" charset="0"/>
                <a:ea typeface="Arial" pitchFamily="34" charset="-122"/>
                <a:cs typeface="Arial" pitchFamily="34" charset="-120"/>
              </a:rPr>
              <a:t>SAHAI SETU Team  ·  Rakesh, Team Leader</a:t>
            </a:r>
            <a:endParaRPr lang="en-US" sz="1200" dirty="0"/>
          </a:p>
        </p:txBody>
      </p:sp>
      <p:sp>
        <p:nvSpPr>
          <p:cNvPr id="10" name="Shape 6"/>
          <p:cNvSpPr/>
          <p:nvPr/>
        </p:nvSpPr>
        <p:spPr>
          <a:xfrm>
            <a:off x="6263640" y="502920"/>
            <a:ext cx="2103120" cy="4160520"/>
          </a:xfrm>
          <a:prstGeom prst="roundRect">
            <a:avLst>
              <a:gd name="adj" fmla="val 14000"/>
            </a:avLst>
          </a:prstGeom>
          <a:solidFill>
            <a:srgbClr val="0B1224"/>
          </a:solidFill>
          <a:ln w="12700">
            <a:solidFill>
              <a:srgbClr val="3B4B70"/>
            </a:solidFill>
            <a:prstDash val="solid"/>
          </a:ln>
        </p:spPr>
        <p:txBody>
          <a:bodyPr/>
          <a:p/>
        </p:txBody>
      </p:sp>
      <p:sp>
        <p:nvSpPr>
          <p:cNvPr id="11" name="Shape 7"/>
          <p:cNvSpPr/>
          <p:nvPr/>
        </p:nvSpPr>
        <p:spPr>
          <a:xfrm>
            <a:off x="6389827" y="629107"/>
            <a:ext cx="1850746" cy="3908146"/>
          </a:xfrm>
          <a:prstGeom prst="roundRect">
            <a:avLst>
              <a:gd name="adj" fmla="val 10000"/>
            </a:avLst>
          </a:prstGeom>
          <a:solidFill>
            <a:srgbClr val="FFFFFF"/>
          </a:solidFill>
          <a:ln w="12700">
            <a:solidFill>
              <a:srgbClr val="FFFFFF"/>
            </a:solidFill>
            <a:prstDash val="solid"/>
          </a:ln>
        </p:spPr>
        <p:txBody>
          <a:bodyPr/>
          <a:p/>
        </p:txBody>
      </p:sp>
      <p:sp>
        <p:nvSpPr>
          <p:cNvPr id="12" name="Text 8"/>
          <p:cNvSpPr txBox="1"/>
          <p:nvPr/>
        </p:nvSpPr>
        <p:spPr>
          <a:xfrm>
            <a:off x="6537887" y="776326"/>
            <a:ext cx="1554626" cy="231343"/>
          </a:xfrm>
          <a:prstGeom prst="rect">
            <a:avLst/>
          </a:prstGeom>
          <a:noFill/>
          <a:ln/>
        </p:spPr>
        <p:txBody>
          <a:bodyPr wrap="square" lIns="0" tIns="0" rIns="0" bIns="0" rtlCol="0" anchor="t"/>
          <a:lstStyle/>
          <a:p>
            <a:pPr indent="0" marL="0">
              <a:buNone/>
            </a:pPr>
            <a:r>
              <a:rPr lang="en-US" sz="1265" b="1" dirty="0">
                <a:solidFill>
                  <a:srgbClr val="2F5BD3"/>
                </a:solidFill>
                <a:latin typeface="Arial" pitchFamily="34" charset="0"/>
                <a:ea typeface="Arial" pitchFamily="34" charset="-122"/>
                <a:cs typeface="Arial" pitchFamily="34" charset="-120"/>
              </a:rPr>
              <a:t>SAHAI SETU</a:t>
            </a:r>
            <a:endParaRPr lang="en-US" sz="1265" dirty="0"/>
          </a:p>
        </p:txBody>
      </p:sp>
      <p:sp>
        <p:nvSpPr>
          <p:cNvPr id="13" name="Text 9"/>
          <p:cNvSpPr txBox="1"/>
          <p:nvPr/>
        </p:nvSpPr>
        <p:spPr>
          <a:xfrm>
            <a:off x="6537887" y="1112825"/>
            <a:ext cx="1554626" cy="273406"/>
          </a:xfrm>
          <a:prstGeom prst="rect">
            <a:avLst/>
          </a:prstGeom>
          <a:noFill/>
          <a:ln/>
        </p:spPr>
        <p:txBody>
          <a:bodyPr wrap="square" lIns="0" tIns="0" rIns="0" bIns="0" rtlCol="0" anchor="t"/>
          <a:lstStyle/>
          <a:p>
            <a:pPr indent="0" marL="0">
              <a:buNone/>
            </a:pPr>
            <a:r>
              <a:rPr lang="en-US" sz="1093" b="1" dirty="0">
                <a:solidFill>
                  <a:srgbClr val="1F2937"/>
                </a:solidFill>
                <a:latin typeface="Arial" pitchFamily="34" charset="0"/>
                <a:ea typeface="Arial" pitchFamily="34" charset="-122"/>
                <a:cs typeface="Arial" pitchFamily="34" charset="-120"/>
              </a:rPr>
              <a:t>OPD registration</a:t>
            </a:r>
            <a:endParaRPr lang="en-US" sz="1093" dirty="0"/>
          </a:p>
        </p:txBody>
      </p:sp>
      <p:sp>
        <p:nvSpPr>
          <p:cNvPr id="14" name="Text 10"/>
          <p:cNvSpPr txBox="1"/>
          <p:nvPr/>
        </p:nvSpPr>
        <p:spPr>
          <a:xfrm>
            <a:off x="6537887" y="1386230"/>
            <a:ext cx="1554626" cy="210312"/>
          </a:xfrm>
          <a:prstGeom prst="rect">
            <a:avLst/>
          </a:prstGeom>
          <a:noFill/>
          <a:ln/>
        </p:spPr>
        <p:txBody>
          <a:bodyPr wrap="square" lIns="0" tIns="0" rIns="0" bIns="0" rtlCol="0" anchor="t"/>
          <a:lstStyle/>
          <a:p>
            <a:pPr indent="0" marL="0">
              <a:buNone/>
            </a:pPr>
            <a:r>
              <a:rPr lang="en-US" sz="863" dirty="0">
                <a:solidFill>
                  <a:srgbClr val="5E6B7E"/>
                </a:solidFill>
                <a:latin typeface="Arial" pitchFamily="34" charset="0"/>
                <a:ea typeface="Arial" pitchFamily="34" charset="-122"/>
                <a:cs typeface="Arial" pitchFamily="34" charset="-120"/>
              </a:rPr>
              <a:t>Your visit at a glance</a:t>
            </a:r>
            <a:endParaRPr lang="en-US" sz="863" dirty="0"/>
          </a:p>
        </p:txBody>
      </p:sp>
      <p:sp>
        <p:nvSpPr>
          <p:cNvPr id="15" name="Shape 11"/>
          <p:cNvSpPr/>
          <p:nvPr/>
        </p:nvSpPr>
        <p:spPr>
          <a:xfrm>
            <a:off x="6537887" y="1764792"/>
            <a:ext cx="231343" cy="231343"/>
          </a:xfrm>
          <a:prstGeom prst="ellipse">
            <a:avLst/>
          </a:prstGeom>
          <a:solidFill>
            <a:srgbClr val="18A06B"/>
          </a:solidFill>
          <a:ln w="12700">
            <a:solidFill>
              <a:srgbClr val="18A06B"/>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6593409" y="1820314"/>
            <a:ext cx="120298" cy="120298"/>
          </a:xfrm>
          <a:prstGeom prst="rect">
            <a:avLst/>
          </a:prstGeom>
        </p:spPr>
      </p:pic>
      <p:sp>
        <p:nvSpPr>
          <p:cNvPr id="17" name="Text 12"/>
          <p:cNvSpPr txBox="1"/>
          <p:nvPr/>
        </p:nvSpPr>
        <p:spPr>
          <a:xfrm>
            <a:off x="6874386" y="1743761"/>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Choose department</a:t>
            </a:r>
            <a:endParaRPr lang="en-US" sz="920" dirty="0"/>
          </a:p>
        </p:txBody>
      </p:sp>
      <p:sp>
        <p:nvSpPr>
          <p:cNvPr id="18" name="Shape 13"/>
          <p:cNvSpPr/>
          <p:nvPr/>
        </p:nvSpPr>
        <p:spPr>
          <a:xfrm>
            <a:off x="6537887" y="2185416"/>
            <a:ext cx="231343" cy="231343"/>
          </a:xfrm>
          <a:prstGeom prst="ellipse">
            <a:avLst/>
          </a:prstGeom>
          <a:solidFill>
            <a:srgbClr val="18A06B"/>
          </a:solidFill>
          <a:ln w="12700">
            <a:solidFill>
              <a:srgbClr val="18A06B"/>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6593409" y="2240938"/>
            <a:ext cx="120298" cy="120298"/>
          </a:xfrm>
          <a:prstGeom prst="rect">
            <a:avLst/>
          </a:prstGeom>
        </p:spPr>
      </p:pic>
      <p:sp>
        <p:nvSpPr>
          <p:cNvPr id="20" name="Text 14"/>
          <p:cNvSpPr txBox="1"/>
          <p:nvPr/>
        </p:nvSpPr>
        <p:spPr>
          <a:xfrm>
            <a:off x="6874386" y="2164385"/>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Select preferred language</a:t>
            </a:r>
            <a:endParaRPr lang="en-US" sz="920" dirty="0"/>
          </a:p>
        </p:txBody>
      </p:sp>
      <p:sp>
        <p:nvSpPr>
          <p:cNvPr id="21" name="Shape 15"/>
          <p:cNvSpPr/>
          <p:nvPr/>
        </p:nvSpPr>
        <p:spPr>
          <a:xfrm>
            <a:off x="6537887" y="2606040"/>
            <a:ext cx="231343" cy="231343"/>
          </a:xfrm>
          <a:prstGeom prst="ellipse">
            <a:avLst/>
          </a:prstGeom>
          <a:solidFill>
            <a:srgbClr val="18A06B"/>
          </a:solidFill>
          <a:ln w="12700">
            <a:solidFill>
              <a:srgbClr val="18A06B"/>
            </a:solidFill>
            <a:prstDash val="solid"/>
          </a:ln>
        </p:spPr>
        <p:txBody>
          <a:bodyPr/>
          <a:p/>
        </p:txBody>
      </p:sp>
      <p:pic>
        <p:nvPicPr>
          <p:cNvPr id="22" name="Image 4" descr="preencoded.png">    </p:cNvPr>
          <p:cNvPicPr>
            <a:picLocks noChangeAspect="1"/>
          </p:cNvPicPr>
          <p:nvPr/>
        </p:nvPicPr>
        <p:blipFill>
          <a:blip r:embed="rId5"/>
          <a:stretch>
            <a:fillRect/>
          </a:stretch>
        </p:blipFill>
        <p:spPr>
          <a:xfrm>
            <a:off x="6593409" y="2661562"/>
            <a:ext cx="120298" cy="120298"/>
          </a:xfrm>
          <a:prstGeom prst="rect">
            <a:avLst/>
          </a:prstGeom>
        </p:spPr>
      </p:pic>
      <p:sp>
        <p:nvSpPr>
          <p:cNvPr id="23" name="Text 16"/>
          <p:cNvSpPr txBox="1"/>
          <p:nvPr/>
        </p:nvSpPr>
        <p:spPr>
          <a:xfrm>
            <a:off x="6874386" y="2585009"/>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Get your token</a:t>
            </a:r>
            <a:endParaRPr lang="en-US" sz="920" dirty="0"/>
          </a:p>
        </p:txBody>
      </p:sp>
      <p:sp>
        <p:nvSpPr>
          <p:cNvPr id="24" name="Shape 17"/>
          <p:cNvSpPr/>
          <p:nvPr/>
        </p:nvSpPr>
        <p:spPr>
          <a:xfrm>
            <a:off x="6537887" y="3026664"/>
            <a:ext cx="231343" cy="231343"/>
          </a:xfrm>
          <a:prstGeom prst="ellipse">
            <a:avLst/>
          </a:prstGeom>
          <a:solidFill>
            <a:srgbClr val="18A06B"/>
          </a:solidFill>
          <a:ln w="12700">
            <a:solidFill>
              <a:srgbClr val="18A06B"/>
            </a:solidFill>
            <a:prstDash val="solid"/>
          </a:ln>
        </p:spPr>
        <p:txBody>
          <a:bodyPr/>
          <a:p/>
        </p:txBody>
      </p:sp>
      <p:pic>
        <p:nvPicPr>
          <p:cNvPr id="25" name="Image 5" descr="preencoded.png">    </p:cNvPr>
          <p:cNvPicPr>
            <a:picLocks noChangeAspect="1"/>
          </p:cNvPicPr>
          <p:nvPr/>
        </p:nvPicPr>
        <p:blipFill>
          <a:blip r:embed="rId6"/>
          <a:stretch>
            <a:fillRect/>
          </a:stretch>
        </p:blipFill>
        <p:spPr>
          <a:xfrm>
            <a:off x="6593409" y="3082186"/>
            <a:ext cx="120298" cy="120298"/>
          </a:xfrm>
          <a:prstGeom prst="rect">
            <a:avLst/>
          </a:prstGeom>
        </p:spPr>
      </p:pic>
      <p:sp>
        <p:nvSpPr>
          <p:cNvPr id="26" name="Text 18"/>
          <p:cNvSpPr txBox="1"/>
          <p:nvPr/>
        </p:nvSpPr>
        <p:spPr>
          <a:xfrm>
            <a:off x="6874386" y="3005633"/>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Track waiting time</a:t>
            </a:r>
            <a:endParaRPr lang="en-US" sz="920" dirty="0"/>
          </a:p>
        </p:txBody>
      </p:sp>
      <p:sp>
        <p:nvSpPr>
          <p:cNvPr id="27" name="Shape 19"/>
          <p:cNvSpPr/>
          <p:nvPr/>
        </p:nvSpPr>
        <p:spPr>
          <a:xfrm>
            <a:off x="6537887" y="3447288"/>
            <a:ext cx="231343" cy="231343"/>
          </a:xfrm>
          <a:prstGeom prst="ellipse">
            <a:avLst/>
          </a:prstGeom>
          <a:solidFill>
            <a:srgbClr val="18A06B"/>
          </a:solidFill>
          <a:ln w="12700">
            <a:solidFill>
              <a:srgbClr val="18A06B"/>
            </a:solidFill>
            <a:prstDash val="solid"/>
          </a:ln>
        </p:spPr>
        <p:txBody>
          <a:bodyPr/>
          <a:p/>
        </p:txBody>
      </p:sp>
      <p:pic>
        <p:nvPicPr>
          <p:cNvPr id="28" name="Image 6" descr="preencoded.png">    </p:cNvPr>
          <p:cNvPicPr>
            <a:picLocks noChangeAspect="1"/>
          </p:cNvPicPr>
          <p:nvPr/>
        </p:nvPicPr>
        <p:blipFill>
          <a:blip r:embed="rId7"/>
          <a:stretch>
            <a:fillRect/>
          </a:stretch>
        </p:blipFill>
        <p:spPr>
          <a:xfrm>
            <a:off x="6593409" y="3502810"/>
            <a:ext cx="120298" cy="120298"/>
          </a:xfrm>
          <a:prstGeom prst="rect">
            <a:avLst/>
          </a:prstGeom>
        </p:spPr>
      </p:pic>
      <p:sp>
        <p:nvSpPr>
          <p:cNvPr id="29" name="Text 20"/>
          <p:cNvSpPr txBox="1"/>
          <p:nvPr/>
        </p:nvSpPr>
        <p:spPr>
          <a:xfrm>
            <a:off x="6874386" y="3426257"/>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Find your ward</a:t>
            </a:r>
            <a:endParaRPr lang="en-US" sz="920" dirty="0"/>
          </a:p>
        </p:txBody>
      </p:sp>
      <p:sp>
        <p:nvSpPr>
          <p:cNvPr id="30" name="Shape 21"/>
          <p:cNvSpPr/>
          <p:nvPr/>
        </p:nvSpPr>
        <p:spPr>
          <a:xfrm>
            <a:off x="6537887" y="3885286"/>
            <a:ext cx="1554626" cy="378562"/>
          </a:xfrm>
          <a:prstGeom prst="roundRect">
            <a:avLst>
              <a:gd name="adj" fmla="val 50000"/>
            </a:avLst>
          </a:prstGeom>
          <a:solidFill>
            <a:srgbClr val="18A06B"/>
          </a:solidFill>
          <a:ln w="12700">
            <a:solidFill>
              <a:srgbClr val="18A06B"/>
            </a:solidFill>
            <a:prstDash val="solid"/>
          </a:ln>
        </p:spPr>
        <p:txBody>
          <a:bodyPr/>
          <a:p/>
        </p:txBody>
      </p:sp>
      <p:sp>
        <p:nvSpPr>
          <p:cNvPr id="31" name="Text 22"/>
          <p:cNvSpPr txBox="1"/>
          <p:nvPr/>
        </p:nvSpPr>
        <p:spPr>
          <a:xfrm>
            <a:off x="6537887" y="3885286"/>
            <a:ext cx="1554626" cy="378562"/>
          </a:xfrm>
          <a:prstGeom prst="rect">
            <a:avLst/>
          </a:prstGeom>
          <a:noFill/>
          <a:ln/>
        </p:spPr>
        <p:txBody>
          <a:bodyPr wrap="square" lIns="0" tIns="0" rIns="0" bIns="0" rtlCol="0" anchor="ctr"/>
          <a:lstStyle/>
          <a:p>
            <a:pPr algn="ctr" indent="0" marL="0">
              <a:buNone/>
            </a:pPr>
            <a:r>
              <a:rPr lang="en-US" sz="977" b="1" dirty="0">
                <a:solidFill>
                  <a:srgbClr val="FFFFFF"/>
                </a:solidFill>
                <a:latin typeface="Arial" pitchFamily="34" charset="0"/>
                <a:ea typeface="Arial" pitchFamily="34" charset="-122"/>
                <a:cs typeface="Arial" pitchFamily="34" charset="-120"/>
              </a:rPr>
              <a:t>Get directions</a:t>
            </a:r>
            <a:endParaRPr lang="en-US" sz="977" dirty="0"/>
          </a:p>
        </p:txBody>
      </p:sp>
      <p:sp>
        <p:nvSpPr>
          <p:cNvPr id="32" name="Text 23"/>
          <p:cNvSpPr txBox="1"/>
          <p:nvPr/>
        </p:nvSpPr>
        <p:spPr>
          <a:xfrm>
            <a:off x="6537887" y="4295394"/>
            <a:ext cx="1554626" cy="168250"/>
          </a:xfrm>
          <a:prstGeom prst="rect">
            <a:avLst/>
          </a:prstGeom>
          <a:noFill/>
          <a:ln/>
        </p:spPr>
        <p:txBody>
          <a:bodyPr wrap="square" lIns="0" tIns="0" rIns="0" bIns="0" rtlCol="0" anchor="t"/>
          <a:lstStyle/>
          <a:p>
            <a:pPr algn="ctr" indent="0" marL="0">
              <a:buNone/>
            </a:pPr>
            <a:r>
              <a:rPr lang="en-US" sz="690" dirty="0">
                <a:solidFill>
                  <a:srgbClr val="5E6B7E"/>
                </a:solidFill>
                <a:latin typeface="Arial" pitchFamily="34" charset="0"/>
                <a:ea typeface="Arial" pitchFamily="34" charset="-122"/>
                <a:cs typeface="Arial" pitchFamily="34" charset="-120"/>
              </a:rPr>
              <a:t>Prototype preview</a:t>
            </a:r>
            <a:endParaRPr lang="en-US" sz="6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t"/>
          <a:lstStyle/>
          <a:p>
            <a:pPr indent="0" marL="0">
              <a:buNone/>
            </a:pPr>
            <a:r>
              <a:rPr lang="en-US" sz="3000" b="1" dirty="0">
                <a:solidFill>
                  <a:srgbClr val="14213D"/>
                </a:solidFill>
                <a:latin typeface="Arial" pitchFamily="34" charset="0"/>
                <a:ea typeface="Arial" pitchFamily="34" charset="-122"/>
                <a:cs typeface="Arial" pitchFamily="34" charset="-120"/>
              </a:rPr>
              <a:t>A hospital visit should not begin with confusion</a:t>
            </a:r>
            <a:endParaRPr lang="en-US" sz="3000" dirty="0"/>
          </a:p>
        </p:txBody>
      </p:sp>
      <p:sp>
        <p:nvSpPr>
          <p:cNvPr id="3" name="Shape 1"/>
          <p:cNvSpPr/>
          <p:nvPr/>
        </p:nvSpPr>
        <p:spPr>
          <a:xfrm>
            <a:off x="548640" y="1325880"/>
            <a:ext cx="4480560" cy="3246120"/>
          </a:xfrm>
          <a:prstGeom prst="roundRect">
            <a:avLst>
              <a:gd name="adj" fmla="val 4225"/>
            </a:avLst>
          </a:prstGeom>
          <a:solidFill>
            <a:srgbClr val="EEF2FA"/>
          </a:solidFill>
          <a:ln w="12700">
            <a:solidFill>
              <a:srgbClr val="EEF2FA"/>
            </a:solidFill>
            <a:prstDash val="solid"/>
          </a:ln>
        </p:spPr>
        <p:txBody>
          <a:bodyPr/>
          <a:p/>
        </p:txBody>
      </p:sp>
      <p:pic>
        <p:nvPicPr>
          <p:cNvPr id="4" name="Image 0" descr="preencoded.png">    </p:cNvPr>
          <p:cNvPicPr>
            <a:picLocks noChangeAspect="1"/>
          </p:cNvPicPr>
          <p:nvPr/>
        </p:nvPicPr>
        <p:blipFill>
          <a:blip r:embed="rId1"/>
          <a:stretch>
            <a:fillRect/>
          </a:stretch>
        </p:blipFill>
        <p:spPr>
          <a:xfrm>
            <a:off x="868680" y="1645920"/>
            <a:ext cx="457200" cy="457200"/>
          </a:xfrm>
          <a:prstGeom prst="rect">
            <a:avLst/>
          </a:prstGeom>
        </p:spPr>
      </p:pic>
      <p:sp>
        <p:nvSpPr>
          <p:cNvPr id="5" name="Text 2"/>
          <p:cNvSpPr txBox="1"/>
          <p:nvPr/>
        </p:nvSpPr>
        <p:spPr>
          <a:xfrm>
            <a:off x="868680" y="2286000"/>
            <a:ext cx="3886200" cy="1463040"/>
          </a:xfrm>
          <a:prstGeom prst="rect">
            <a:avLst/>
          </a:prstGeom>
          <a:noFill/>
          <a:ln/>
        </p:spPr>
        <p:txBody>
          <a:bodyPr wrap="square" lIns="0" tIns="0" rIns="0" bIns="0" rtlCol="0" anchor="t"/>
          <a:lstStyle/>
          <a:p>
            <a:pPr indent="0" marL="0">
              <a:buNone/>
            </a:pPr>
            <a:r>
              <a:rPr lang="en-US" sz="1800" i="1" dirty="0">
                <a:solidFill>
                  <a:srgbClr val="1F2937"/>
                </a:solidFill>
                <a:latin typeface="Arial" pitchFamily="34" charset="0"/>
                <a:ea typeface="Arial" pitchFamily="34" charset="-122"/>
                <a:cs typeface="Arial" pitchFamily="34" charset="-120"/>
              </a:rPr>
              <a:t>Long registration queues, language barriers, and unclear hospital directions can leave patients waiting and unsure where to go.</a:t>
            </a:r>
            <a:endParaRPr lang="en-US" sz="1900" dirty="0"/>
          </a:p>
        </p:txBody>
      </p:sp>
      <p:sp>
        <p:nvSpPr>
          <p:cNvPr id="6" name="Text 3"/>
          <p:cNvSpPr txBox="1"/>
          <p:nvPr/>
        </p:nvSpPr>
        <p:spPr>
          <a:xfrm>
            <a:off x="868680" y="3931920"/>
            <a:ext cx="3886200" cy="274320"/>
          </a:xfrm>
          <a:prstGeom prst="rect">
            <a:avLst/>
          </a:prstGeom>
          <a:noFill/>
          <a:ln/>
        </p:spPr>
        <p:txBody>
          <a:bodyPr wrap="square" lIns="0" tIns="0" rIns="0" bIns="0" rtlCol="0" anchor="t"/>
          <a:lstStyle/>
          <a:p>
            <a:pPr indent="0" marL="0">
              <a:buNone/>
            </a:pPr>
            <a:r>
              <a:rPr lang="en-US" sz="900" b="1" dirty="0">
                <a:solidFill>
                  <a:srgbClr val="5E6B7E"/>
                </a:solidFill>
                <a:latin typeface="Arial" pitchFamily="34" charset="0"/>
                <a:ea typeface="Arial" pitchFamily="34" charset="-122"/>
                <a:cs typeface="Arial" pitchFamily="34" charset="-120"/>
              </a:rPr>
              <a:t>Source: supplied problem statement; no survey data provided</a:t>
            </a:r>
            <a:endParaRPr lang="en-US" sz="1200" dirty="0"/>
          </a:p>
        </p:txBody>
      </p:sp>
      <p:sp>
        <p:nvSpPr>
          <p:cNvPr id="7" name="Shape 4"/>
          <p:cNvSpPr/>
          <p:nvPr/>
        </p:nvSpPr>
        <p:spPr>
          <a:xfrm>
            <a:off x="5440680" y="1481328"/>
            <a:ext cx="502920" cy="502920"/>
          </a:xfrm>
          <a:prstGeom prst="ellipse">
            <a:avLst/>
          </a:prstGeom>
          <a:solidFill>
            <a:srgbClr val="F0A43A"/>
          </a:solidFill>
          <a:ln w="12700">
            <a:solidFill>
              <a:srgbClr val="F0A43A"/>
            </a:solidFill>
            <a:prstDash val="solid"/>
          </a:ln>
        </p:spPr>
        <p:txBody>
          <a:bodyPr/>
          <a:p/>
        </p:txBody>
      </p:sp>
      <p:pic>
        <p:nvPicPr>
          <p:cNvPr id="8" name="Image 1" descr="preencoded.png">    </p:cNvPr>
          <p:cNvPicPr>
            <a:picLocks noChangeAspect="1"/>
          </p:cNvPicPr>
          <p:nvPr/>
        </p:nvPicPr>
        <p:blipFill>
          <a:blip r:embed="rId2"/>
          <a:stretch>
            <a:fillRect/>
          </a:stretch>
        </p:blipFill>
        <p:spPr>
          <a:xfrm>
            <a:off x="5571439" y="1612087"/>
            <a:ext cx="241402" cy="241402"/>
          </a:xfrm>
          <a:prstGeom prst="rect">
            <a:avLst/>
          </a:prstGeom>
        </p:spPr>
      </p:pic>
      <p:sp>
        <p:nvSpPr>
          <p:cNvPr id="9" name="Text 5"/>
          <p:cNvSpPr txBox="1"/>
          <p:nvPr/>
        </p:nvSpPr>
        <p:spPr>
          <a:xfrm>
            <a:off x="6126480" y="1371600"/>
            <a:ext cx="2560320" cy="731520"/>
          </a:xfrm>
          <a:prstGeom prst="rect">
            <a:avLst/>
          </a:prstGeom>
          <a:noFill/>
          <a:ln/>
        </p:spPr>
        <p:txBody>
          <a:bodyPr wrap="square" lIns="0" tIns="0" rIns="0" bIns="0" rtlCol="0" anchor="t"/>
          <a:lstStyle/>
          <a:p>
            <a:pPr indent="0" marL="0">
              <a:buNone/>
            </a:pPr>
            <a:r>
              <a:rPr lang="en-US" sz="4400" b="1" dirty="0">
                <a:solidFill>
                  <a:srgbClr val="14213D"/>
                </a:solidFill>
                <a:latin typeface="Arial" pitchFamily="34" charset="0"/>
                <a:ea typeface="Arial" pitchFamily="34" charset="-122"/>
                <a:cs typeface="Arial" pitchFamily="34" charset="-120"/>
              </a:rPr>
              <a:t>Queue</a:t>
            </a:r>
            <a:endParaRPr lang="en-US" sz="4400" dirty="0"/>
          </a:p>
        </p:txBody>
      </p:sp>
      <p:sp>
        <p:nvSpPr>
          <p:cNvPr id="10" name="Text 6"/>
          <p:cNvSpPr txBox="1"/>
          <p:nvPr/>
        </p:nvSpPr>
        <p:spPr>
          <a:xfrm>
            <a:off x="6126480" y="2121408"/>
            <a:ext cx="2514600" cy="68580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Registration and OPD processes can delay access to consultation.</a:t>
            </a:r>
            <a:endParaRPr lang="en-US" sz="1200" dirty="0"/>
          </a:p>
        </p:txBody>
      </p:sp>
      <p:sp>
        <p:nvSpPr>
          <p:cNvPr id="11" name="Shape 7"/>
          <p:cNvSpPr/>
          <p:nvPr/>
        </p:nvSpPr>
        <p:spPr>
          <a:xfrm>
            <a:off x="5440680" y="3127248"/>
            <a:ext cx="502920" cy="502920"/>
          </a:xfrm>
          <a:prstGeom prst="ellipse">
            <a:avLst/>
          </a:prstGeom>
          <a:solidFill>
            <a:srgbClr val="F0A43A"/>
          </a:solidFill>
          <a:ln w="12700">
            <a:solidFill>
              <a:srgbClr val="F0A43A"/>
            </a:solidFill>
            <a:prstDash val="solid"/>
          </a:ln>
        </p:spPr>
        <p:txBody>
          <a:bodyPr/>
          <a:p/>
        </p:txBody>
      </p:sp>
      <p:pic>
        <p:nvPicPr>
          <p:cNvPr id="12" name="Image 2" descr="preencoded.png">    </p:cNvPr>
          <p:cNvPicPr>
            <a:picLocks noChangeAspect="1"/>
          </p:cNvPicPr>
          <p:nvPr/>
        </p:nvPicPr>
        <p:blipFill>
          <a:blip r:embed="rId3"/>
          <a:stretch>
            <a:fillRect/>
          </a:stretch>
        </p:blipFill>
        <p:spPr>
          <a:xfrm>
            <a:off x="5571439" y="3258007"/>
            <a:ext cx="241402" cy="241402"/>
          </a:xfrm>
          <a:prstGeom prst="rect">
            <a:avLst/>
          </a:prstGeom>
        </p:spPr>
      </p:pic>
      <p:sp>
        <p:nvSpPr>
          <p:cNvPr id="13" name="Text 8"/>
          <p:cNvSpPr txBox="1"/>
          <p:nvPr/>
        </p:nvSpPr>
        <p:spPr>
          <a:xfrm>
            <a:off x="6126480" y="3017520"/>
            <a:ext cx="2560320" cy="731520"/>
          </a:xfrm>
          <a:prstGeom prst="rect">
            <a:avLst/>
          </a:prstGeom>
          <a:noFill/>
          <a:ln/>
        </p:spPr>
        <p:txBody>
          <a:bodyPr wrap="square" lIns="0" tIns="0" rIns="0" bIns="0" rtlCol="0" anchor="t"/>
          <a:lstStyle/>
          <a:p>
            <a:pPr indent="0" marL="0">
              <a:buNone/>
            </a:pPr>
            <a:r>
              <a:rPr lang="en-US" sz="4400" b="1" dirty="0">
                <a:solidFill>
                  <a:srgbClr val="14213D"/>
                </a:solidFill>
                <a:latin typeface="Arial" pitchFamily="34" charset="0"/>
                <a:ea typeface="Arial" pitchFamily="34" charset="-122"/>
                <a:cs typeface="Arial" pitchFamily="34" charset="-120"/>
              </a:rPr>
              <a:t>Wards</a:t>
            </a:r>
            <a:endParaRPr lang="en-US" sz="4400" dirty="0"/>
          </a:p>
        </p:txBody>
      </p:sp>
      <p:sp>
        <p:nvSpPr>
          <p:cNvPr id="14" name="Text 9"/>
          <p:cNvSpPr txBox="1"/>
          <p:nvPr/>
        </p:nvSpPr>
        <p:spPr>
          <a:xfrm>
            <a:off x="6126480" y="3767328"/>
            <a:ext cx="2514600" cy="68580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Unclear signage and unfamiliar hospital layouts add stress and wasted time.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120640" cy="100584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One simple flow from registration to the right ward</a:t>
            </a:r>
            <a:endParaRPr lang="en-US" sz="2800" dirty="0"/>
          </a:p>
        </p:txBody>
      </p:sp>
      <p:sp>
        <p:nvSpPr>
          <p:cNvPr id="3" name="Text 1"/>
          <p:cNvSpPr txBox="1"/>
          <p:nvPr/>
        </p:nvSpPr>
        <p:spPr>
          <a:xfrm>
            <a:off x="548640" y="1645920"/>
            <a:ext cx="4846320" cy="91440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SAHAI SETU brings registration, queue updates, accessibility support, and hospital directions into one patient-friendly experience.</a:t>
            </a:r>
            <a:endParaRPr lang="en-US" sz="1500" dirty="0"/>
          </a:p>
        </p:txBody>
      </p:sp>
      <p:sp>
        <p:nvSpPr>
          <p:cNvPr id="4" name="Shape 2"/>
          <p:cNvSpPr/>
          <p:nvPr/>
        </p:nvSpPr>
        <p:spPr>
          <a:xfrm>
            <a:off x="548640" y="2788920"/>
            <a:ext cx="365760" cy="365760"/>
          </a:xfrm>
          <a:prstGeom prst="ellipse">
            <a:avLst/>
          </a:prstGeom>
          <a:solidFill>
            <a:srgbClr val="18A06B"/>
          </a:solidFill>
          <a:ln w="12700">
            <a:solidFill>
              <a:srgbClr val="18A06B"/>
            </a:solidFill>
            <a:prstDash val="solid"/>
          </a:ln>
        </p:spPr>
        <p:txBody>
          <a:bodyPr/>
          <a:p/>
        </p:txBody>
      </p:sp>
      <p:pic>
        <p:nvPicPr>
          <p:cNvPr id="5" name="Image 0" descr="preencoded.png">    </p:cNvPr>
          <p:cNvPicPr>
            <a:picLocks noChangeAspect="1"/>
          </p:cNvPicPr>
          <p:nvPr/>
        </p:nvPicPr>
        <p:blipFill>
          <a:blip r:embed="rId1"/>
          <a:stretch>
            <a:fillRect/>
          </a:stretch>
        </p:blipFill>
        <p:spPr>
          <a:xfrm>
            <a:off x="640080" y="2880360"/>
            <a:ext cx="182880" cy="182880"/>
          </a:xfrm>
          <a:prstGeom prst="rect">
            <a:avLst/>
          </a:prstGeom>
        </p:spPr>
      </p:pic>
      <p:sp>
        <p:nvSpPr>
          <p:cNvPr id="6" name="Text 3"/>
          <p:cNvSpPr txBox="1"/>
          <p:nvPr/>
        </p:nvSpPr>
        <p:spPr>
          <a:xfrm>
            <a:off x="1097280" y="2788920"/>
            <a:ext cx="4389120" cy="36576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Register with simple, guided steps</a:t>
            </a:r>
            <a:endParaRPr lang="en-US" sz="1400" dirty="0"/>
          </a:p>
        </p:txBody>
      </p:sp>
      <p:sp>
        <p:nvSpPr>
          <p:cNvPr id="7" name="Shape 4"/>
          <p:cNvSpPr/>
          <p:nvPr/>
        </p:nvSpPr>
        <p:spPr>
          <a:xfrm>
            <a:off x="548640" y="3355848"/>
            <a:ext cx="365760" cy="365760"/>
          </a:xfrm>
          <a:prstGeom prst="ellipse">
            <a:avLst/>
          </a:prstGeom>
          <a:solidFill>
            <a:srgbClr val="18A06B"/>
          </a:solidFill>
          <a:ln w="12700">
            <a:solidFill>
              <a:srgbClr val="18A06B"/>
            </a:solidFill>
            <a:prstDash val="solid"/>
          </a:ln>
        </p:spPr>
        <p:txBody>
          <a:bodyPr/>
          <a:p/>
        </p:txBody>
      </p:sp>
      <p:pic>
        <p:nvPicPr>
          <p:cNvPr id="8" name="Image 1" descr="preencoded.png">    </p:cNvPr>
          <p:cNvPicPr>
            <a:picLocks noChangeAspect="1"/>
          </p:cNvPicPr>
          <p:nvPr/>
        </p:nvPicPr>
        <p:blipFill>
          <a:blip r:embed="rId2"/>
          <a:stretch>
            <a:fillRect/>
          </a:stretch>
        </p:blipFill>
        <p:spPr>
          <a:xfrm>
            <a:off x="640080" y="3447288"/>
            <a:ext cx="182880" cy="182880"/>
          </a:xfrm>
          <a:prstGeom prst="rect">
            <a:avLst/>
          </a:prstGeom>
        </p:spPr>
      </p:pic>
      <p:sp>
        <p:nvSpPr>
          <p:cNvPr id="9" name="Text 5"/>
          <p:cNvSpPr txBox="1"/>
          <p:nvPr/>
        </p:nvSpPr>
        <p:spPr>
          <a:xfrm>
            <a:off x="1097280" y="3355848"/>
            <a:ext cx="4389120" cy="36576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View token status and estimated waiting time</a:t>
            </a:r>
            <a:endParaRPr lang="en-US" sz="1400" dirty="0"/>
          </a:p>
        </p:txBody>
      </p:sp>
      <p:sp>
        <p:nvSpPr>
          <p:cNvPr id="10" name="Shape 6"/>
          <p:cNvSpPr/>
          <p:nvPr/>
        </p:nvSpPr>
        <p:spPr>
          <a:xfrm>
            <a:off x="548640" y="3922776"/>
            <a:ext cx="365760" cy="365760"/>
          </a:xfrm>
          <a:prstGeom prst="ellipse">
            <a:avLst/>
          </a:prstGeom>
          <a:solidFill>
            <a:srgbClr val="18A06B"/>
          </a:solidFill>
          <a:ln w="12700">
            <a:solidFill>
              <a:srgbClr val="18A06B"/>
            </a:solidFill>
            <a:prstDash val="solid"/>
          </a:ln>
        </p:spPr>
        <p:txBody>
          <a:bodyPr/>
          <a:p/>
        </p:txBody>
      </p:sp>
      <p:pic>
        <p:nvPicPr>
          <p:cNvPr id="11" name="Image 2" descr="preencoded.png">    </p:cNvPr>
          <p:cNvPicPr>
            <a:picLocks noChangeAspect="1"/>
          </p:cNvPicPr>
          <p:nvPr/>
        </p:nvPicPr>
        <p:blipFill>
          <a:blip r:embed="rId3"/>
          <a:stretch>
            <a:fillRect/>
          </a:stretch>
        </p:blipFill>
        <p:spPr>
          <a:xfrm>
            <a:off x="640080" y="4014216"/>
            <a:ext cx="182880" cy="182880"/>
          </a:xfrm>
          <a:prstGeom prst="rect">
            <a:avLst/>
          </a:prstGeom>
        </p:spPr>
      </p:pic>
      <p:sp>
        <p:nvSpPr>
          <p:cNvPr id="12" name="Text 7"/>
          <p:cNvSpPr txBox="1"/>
          <p:nvPr/>
        </p:nvSpPr>
        <p:spPr>
          <a:xfrm>
            <a:off x="1097280" y="3922776"/>
            <a:ext cx="4389120" cy="36576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Follow landmark-based directions to your destination</a:t>
            </a:r>
            <a:endParaRPr lang="en-US" sz="1400" dirty="0"/>
          </a:p>
        </p:txBody>
      </p:sp>
      <p:sp>
        <p:nvSpPr>
          <p:cNvPr id="13" name="Shape 8"/>
          <p:cNvSpPr/>
          <p:nvPr/>
        </p:nvSpPr>
        <p:spPr>
          <a:xfrm>
            <a:off x="6263640" y="411480"/>
            <a:ext cx="2103120" cy="4297680"/>
          </a:xfrm>
          <a:prstGeom prst="roundRect">
            <a:avLst>
              <a:gd name="adj" fmla="val 14000"/>
            </a:avLst>
          </a:prstGeom>
          <a:solidFill>
            <a:srgbClr val="0B1224"/>
          </a:solidFill>
          <a:ln w="12700">
            <a:solidFill>
              <a:srgbClr val="3B4B70"/>
            </a:solidFill>
            <a:prstDash val="solid"/>
          </a:ln>
        </p:spPr>
        <p:txBody>
          <a:bodyPr/>
          <a:p/>
        </p:txBody>
      </p:sp>
      <p:sp>
        <p:nvSpPr>
          <p:cNvPr id="14" name="Shape 9"/>
          <p:cNvSpPr/>
          <p:nvPr/>
        </p:nvSpPr>
        <p:spPr>
          <a:xfrm>
            <a:off x="6389827" y="537667"/>
            <a:ext cx="1850746" cy="4045306"/>
          </a:xfrm>
          <a:prstGeom prst="roundRect">
            <a:avLst>
              <a:gd name="adj" fmla="val 10000"/>
            </a:avLst>
          </a:prstGeom>
          <a:solidFill>
            <a:srgbClr val="FFFFFF"/>
          </a:solidFill>
          <a:ln w="12700">
            <a:solidFill>
              <a:srgbClr val="FFFFFF"/>
            </a:solidFill>
            <a:prstDash val="solid"/>
          </a:ln>
        </p:spPr>
        <p:txBody>
          <a:bodyPr/>
          <a:p/>
        </p:txBody>
      </p:sp>
      <p:sp>
        <p:nvSpPr>
          <p:cNvPr id="15" name="Text 10"/>
          <p:cNvSpPr txBox="1"/>
          <p:nvPr/>
        </p:nvSpPr>
        <p:spPr>
          <a:xfrm>
            <a:off x="6537887" y="684886"/>
            <a:ext cx="1554626" cy="231343"/>
          </a:xfrm>
          <a:prstGeom prst="rect">
            <a:avLst/>
          </a:prstGeom>
          <a:noFill/>
          <a:ln/>
        </p:spPr>
        <p:txBody>
          <a:bodyPr wrap="square" lIns="0" tIns="0" rIns="0" bIns="0" rtlCol="0" anchor="t"/>
          <a:lstStyle/>
          <a:p>
            <a:pPr indent="0" marL="0">
              <a:buNone/>
            </a:pPr>
            <a:r>
              <a:rPr lang="en-US" sz="1265" b="1" dirty="0">
                <a:solidFill>
                  <a:srgbClr val="2F5BD3"/>
                </a:solidFill>
                <a:latin typeface="Arial" pitchFamily="34" charset="0"/>
                <a:ea typeface="Arial" pitchFamily="34" charset="-122"/>
                <a:cs typeface="Arial" pitchFamily="34" charset="-120"/>
              </a:rPr>
              <a:t>SAHAI SETU</a:t>
            </a:r>
            <a:endParaRPr lang="en-US" sz="1265" dirty="0"/>
          </a:p>
        </p:txBody>
      </p:sp>
      <p:sp>
        <p:nvSpPr>
          <p:cNvPr id="16" name="Text 11"/>
          <p:cNvSpPr txBox="1"/>
          <p:nvPr/>
        </p:nvSpPr>
        <p:spPr>
          <a:xfrm>
            <a:off x="6537887" y="1021385"/>
            <a:ext cx="1554626" cy="273406"/>
          </a:xfrm>
          <a:prstGeom prst="rect">
            <a:avLst/>
          </a:prstGeom>
          <a:noFill/>
          <a:ln/>
        </p:spPr>
        <p:txBody>
          <a:bodyPr wrap="square" lIns="0" tIns="0" rIns="0" bIns="0" rtlCol="0" anchor="t"/>
          <a:lstStyle/>
          <a:p>
            <a:pPr indent="0" marL="0">
              <a:buNone/>
            </a:pPr>
            <a:r>
              <a:rPr lang="en-US" sz="1093" b="1" dirty="0">
                <a:solidFill>
                  <a:srgbClr val="1F2937"/>
                </a:solidFill>
                <a:latin typeface="Arial" pitchFamily="34" charset="0"/>
                <a:ea typeface="Arial" pitchFamily="34" charset="-122"/>
                <a:cs typeface="Arial" pitchFamily="34" charset="-120"/>
              </a:rPr>
              <a:t>OPD token generated</a:t>
            </a:r>
            <a:endParaRPr lang="en-US" sz="1093" dirty="0"/>
          </a:p>
        </p:txBody>
      </p:sp>
      <p:sp>
        <p:nvSpPr>
          <p:cNvPr id="17" name="Text 12"/>
          <p:cNvSpPr txBox="1"/>
          <p:nvPr/>
        </p:nvSpPr>
        <p:spPr>
          <a:xfrm>
            <a:off x="6537887" y="1294790"/>
            <a:ext cx="1554626" cy="210312"/>
          </a:xfrm>
          <a:prstGeom prst="rect">
            <a:avLst/>
          </a:prstGeom>
          <a:noFill/>
          <a:ln/>
        </p:spPr>
        <p:txBody>
          <a:bodyPr wrap="square" lIns="0" tIns="0" rIns="0" bIns="0" rtlCol="0" anchor="t"/>
          <a:lstStyle/>
          <a:p>
            <a:pPr indent="0" marL="0">
              <a:buNone/>
            </a:pPr>
            <a:r>
              <a:rPr lang="en-US" sz="863" dirty="0">
                <a:solidFill>
                  <a:srgbClr val="5E6B7E"/>
                </a:solidFill>
                <a:latin typeface="Arial" pitchFamily="34" charset="0"/>
                <a:ea typeface="Arial" pitchFamily="34" charset="-122"/>
                <a:cs typeface="Arial" pitchFamily="34" charset="-120"/>
              </a:rPr>
              <a:t>Visit summary</a:t>
            </a:r>
            <a:endParaRPr lang="en-US" sz="863" dirty="0"/>
          </a:p>
        </p:txBody>
      </p:sp>
      <p:sp>
        <p:nvSpPr>
          <p:cNvPr id="18" name="Shape 13"/>
          <p:cNvSpPr/>
          <p:nvPr/>
        </p:nvSpPr>
        <p:spPr>
          <a:xfrm>
            <a:off x="6537887" y="1673352"/>
            <a:ext cx="231343" cy="231343"/>
          </a:xfrm>
          <a:prstGeom prst="ellipse">
            <a:avLst/>
          </a:prstGeom>
          <a:solidFill>
            <a:srgbClr val="18A06B"/>
          </a:solidFill>
          <a:ln w="12700">
            <a:solidFill>
              <a:srgbClr val="18A06B"/>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6593409" y="1728874"/>
            <a:ext cx="120298" cy="120298"/>
          </a:xfrm>
          <a:prstGeom prst="rect">
            <a:avLst/>
          </a:prstGeom>
        </p:spPr>
      </p:pic>
      <p:sp>
        <p:nvSpPr>
          <p:cNvPr id="20" name="Text 14"/>
          <p:cNvSpPr txBox="1"/>
          <p:nvPr/>
        </p:nvSpPr>
        <p:spPr>
          <a:xfrm>
            <a:off x="6874386" y="1652321"/>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Token number</a:t>
            </a:r>
            <a:endParaRPr lang="en-US" sz="920" dirty="0"/>
          </a:p>
        </p:txBody>
      </p:sp>
      <p:sp>
        <p:nvSpPr>
          <p:cNvPr id="21" name="Shape 15"/>
          <p:cNvSpPr/>
          <p:nvPr/>
        </p:nvSpPr>
        <p:spPr>
          <a:xfrm>
            <a:off x="6537887" y="2093976"/>
            <a:ext cx="231343" cy="231343"/>
          </a:xfrm>
          <a:prstGeom prst="ellipse">
            <a:avLst/>
          </a:prstGeom>
          <a:solidFill>
            <a:srgbClr val="18A06B"/>
          </a:solidFill>
          <a:ln w="12700">
            <a:solidFill>
              <a:srgbClr val="18A06B"/>
            </a:solidFill>
            <a:prstDash val="solid"/>
          </a:ln>
        </p:spPr>
        <p:txBody>
          <a:bodyPr/>
          <a:p/>
        </p:txBody>
      </p:sp>
      <p:pic>
        <p:nvPicPr>
          <p:cNvPr id="22" name="Image 4" descr="preencoded.png">    </p:cNvPr>
          <p:cNvPicPr>
            <a:picLocks noChangeAspect="1"/>
          </p:cNvPicPr>
          <p:nvPr/>
        </p:nvPicPr>
        <p:blipFill>
          <a:blip r:embed="rId5"/>
          <a:stretch>
            <a:fillRect/>
          </a:stretch>
        </p:blipFill>
        <p:spPr>
          <a:xfrm>
            <a:off x="6593409" y="2149498"/>
            <a:ext cx="120298" cy="120298"/>
          </a:xfrm>
          <a:prstGeom prst="rect">
            <a:avLst/>
          </a:prstGeom>
        </p:spPr>
      </p:pic>
      <p:sp>
        <p:nvSpPr>
          <p:cNvPr id="23" name="Text 16"/>
          <p:cNvSpPr txBox="1"/>
          <p:nvPr/>
        </p:nvSpPr>
        <p:spPr>
          <a:xfrm>
            <a:off x="6874386" y="2072945"/>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Department</a:t>
            </a:r>
            <a:endParaRPr lang="en-US" sz="920" dirty="0"/>
          </a:p>
        </p:txBody>
      </p:sp>
      <p:sp>
        <p:nvSpPr>
          <p:cNvPr id="24" name="Shape 17"/>
          <p:cNvSpPr/>
          <p:nvPr/>
        </p:nvSpPr>
        <p:spPr>
          <a:xfrm>
            <a:off x="6537887" y="2514600"/>
            <a:ext cx="231343" cy="231343"/>
          </a:xfrm>
          <a:prstGeom prst="ellipse">
            <a:avLst/>
          </a:prstGeom>
          <a:solidFill>
            <a:srgbClr val="18A06B"/>
          </a:solidFill>
          <a:ln w="12700">
            <a:solidFill>
              <a:srgbClr val="18A06B"/>
            </a:solidFill>
            <a:prstDash val="solid"/>
          </a:ln>
        </p:spPr>
        <p:txBody>
          <a:bodyPr/>
          <a:p/>
        </p:txBody>
      </p:sp>
      <p:pic>
        <p:nvPicPr>
          <p:cNvPr id="25" name="Image 5" descr="preencoded.png">    </p:cNvPr>
          <p:cNvPicPr>
            <a:picLocks noChangeAspect="1"/>
          </p:cNvPicPr>
          <p:nvPr/>
        </p:nvPicPr>
        <p:blipFill>
          <a:blip r:embed="rId6"/>
          <a:stretch>
            <a:fillRect/>
          </a:stretch>
        </p:blipFill>
        <p:spPr>
          <a:xfrm>
            <a:off x="6593409" y="2570122"/>
            <a:ext cx="120298" cy="120298"/>
          </a:xfrm>
          <a:prstGeom prst="rect">
            <a:avLst/>
          </a:prstGeom>
        </p:spPr>
      </p:pic>
      <p:sp>
        <p:nvSpPr>
          <p:cNvPr id="26" name="Text 18"/>
          <p:cNvSpPr txBox="1"/>
          <p:nvPr/>
        </p:nvSpPr>
        <p:spPr>
          <a:xfrm>
            <a:off x="6874386" y="2493569"/>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Estimated wait</a:t>
            </a:r>
            <a:endParaRPr lang="en-US" sz="920" dirty="0"/>
          </a:p>
        </p:txBody>
      </p:sp>
      <p:sp>
        <p:nvSpPr>
          <p:cNvPr id="27" name="Shape 19"/>
          <p:cNvSpPr/>
          <p:nvPr/>
        </p:nvSpPr>
        <p:spPr>
          <a:xfrm>
            <a:off x="6537887" y="2935224"/>
            <a:ext cx="231343" cy="231343"/>
          </a:xfrm>
          <a:prstGeom prst="ellipse">
            <a:avLst/>
          </a:prstGeom>
          <a:solidFill>
            <a:srgbClr val="18A06B"/>
          </a:solidFill>
          <a:ln w="12700">
            <a:solidFill>
              <a:srgbClr val="18A06B"/>
            </a:solidFill>
            <a:prstDash val="solid"/>
          </a:ln>
        </p:spPr>
        <p:txBody>
          <a:bodyPr/>
          <a:p/>
        </p:txBody>
      </p:sp>
      <p:pic>
        <p:nvPicPr>
          <p:cNvPr id="28" name="Image 6" descr="preencoded.png">    </p:cNvPr>
          <p:cNvPicPr>
            <a:picLocks noChangeAspect="1"/>
          </p:cNvPicPr>
          <p:nvPr/>
        </p:nvPicPr>
        <p:blipFill>
          <a:blip r:embed="rId7"/>
          <a:stretch>
            <a:fillRect/>
          </a:stretch>
        </p:blipFill>
        <p:spPr>
          <a:xfrm>
            <a:off x="6593409" y="2990746"/>
            <a:ext cx="120298" cy="120298"/>
          </a:xfrm>
          <a:prstGeom prst="rect">
            <a:avLst/>
          </a:prstGeom>
        </p:spPr>
      </p:pic>
      <p:sp>
        <p:nvSpPr>
          <p:cNvPr id="29" name="Text 20"/>
          <p:cNvSpPr txBox="1"/>
          <p:nvPr/>
        </p:nvSpPr>
        <p:spPr>
          <a:xfrm>
            <a:off x="6874386" y="2914193"/>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Queue status</a:t>
            </a:r>
            <a:endParaRPr lang="en-US" sz="920" dirty="0"/>
          </a:p>
        </p:txBody>
      </p:sp>
      <p:sp>
        <p:nvSpPr>
          <p:cNvPr id="30" name="Shape 21"/>
          <p:cNvSpPr/>
          <p:nvPr/>
        </p:nvSpPr>
        <p:spPr>
          <a:xfrm>
            <a:off x="6537887" y="3355848"/>
            <a:ext cx="231343" cy="231343"/>
          </a:xfrm>
          <a:prstGeom prst="ellipse">
            <a:avLst/>
          </a:prstGeom>
          <a:solidFill>
            <a:srgbClr val="18A06B"/>
          </a:solidFill>
          <a:ln w="12700">
            <a:solidFill>
              <a:srgbClr val="18A06B"/>
            </a:solidFill>
            <a:prstDash val="solid"/>
          </a:ln>
        </p:spPr>
        <p:txBody>
          <a:bodyPr/>
          <a:p/>
        </p:txBody>
      </p:sp>
      <p:pic>
        <p:nvPicPr>
          <p:cNvPr id="31" name="Image 7" descr="preencoded.png">    </p:cNvPr>
          <p:cNvPicPr>
            <a:picLocks noChangeAspect="1"/>
          </p:cNvPicPr>
          <p:nvPr/>
        </p:nvPicPr>
        <p:blipFill>
          <a:blip r:embed="rId8"/>
          <a:stretch>
            <a:fillRect/>
          </a:stretch>
        </p:blipFill>
        <p:spPr>
          <a:xfrm>
            <a:off x="6593409" y="3411370"/>
            <a:ext cx="120298" cy="120298"/>
          </a:xfrm>
          <a:prstGeom prst="rect">
            <a:avLst/>
          </a:prstGeom>
        </p:spPr>
      </p:pic>
      <p:sp>
        <p:nvSpPr>
          <p:cNvPr id="32" name="Text 22"/>
          <p:cNvSpPr txBox="1"/>
          <p:nvPr/>
        </p:nvSpPr>
        <p:spPr>
          <a:xfrm>
            <a:off x="6874386" y="3334817"/>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Next destination</a:t>
            </a:r>
            <a:endParaRPr lang="en-US" sz="920" dirty="0"/>
          </a:p>
        </p:txBody>
      </p:sp>
      <p:sp>
        <p:nvSpPr>
          <p:cNvPr id="33" name="Shape 23"/>
          <p:cNvSpPr/>
          <p:nvPr/>
        </p:nvSpPr>
        <p:spPr>
          <a:xfrm>
            <a:off x="6537887" y="3931006"/>
            <a:ext cx="1554626" cy="378562"/>
          </a:xfrm>
          <a:prstGeom prst="roundRect">
            <a:avLst>
              <a:gd name="adj" fmla="val 50000"/>
            </a:avLst>
          </a:prstGeom>
          <a:solidFill>
            <a:srgbClr val="18A06B"/>
          </a:solidFill>
          <a:ln w="12700">
            <a:solidFill>
              <a:srgbClr val="18A06B"/>
            </a:solidFill>
            <a:prstDash val="solid"/>
          </a:ln>
        </p:spPr>
        <p:txBody>
          <a:bodyPr/>
          <a:p/>
        </p:txBody>
      </p:sp>
      <p:sp>
        <p:nvSpPr>
          <p:cNvPr id="34" name="Text 24"/>
          <p:cNvSpPr txBox="1"/>
          <p:nvPr/>
        </p:nvSpPr>
        <p:spPr>
          <a:xfrm>
            <a:off x="6537887" y="3931006"/>
            <a:ext cx="1554626" cy="378562"/>
          </a:xfrm>
          <a:prstGeom prst="rect">
            <a:avLst/>
          </a:prstGeom>
          <a:noFill/>
          <a:ln/>
        </p:spPr>
        <p:txBody>
          <a:bodyPr wrap="square" lIns="0" tIns="0" rIns="0" bIns="0" rtlCol="0" anchor="ctr"/>
          <a:lstStyle/>
          <a:p>
            <a:pPr algn="ctr" indent="0" marL="0">
              <a:buNone/>
            </a:pPr>
            <a:r>
              <a:rPr lang="en-US" sz="977" b="1" dirty="0">
                <a:solidFill>
                  <a:srgbClr val="FFFFFF"/>
                </a:solidFill>
                <a:latin typeface="Arial" pitchFamily="34" charset="0"/>
                <a:ea typeface="Arial" pitchFamily="34" charset="-122"/>
                <a:cs typeface="Arial" pitchFamily="34" charset="-120"/>
              </a:rPr>
              <a:t>View directions</a:t>
            </a:r>
            <a:endParaRPr lang="en-US" sz="977" dirty="0"/>
          </a:p>
        </p:txBody>
      </p:sp>
      <p:sp>
        <p:nvSpPr>
          <p:cNvPr id="35" name="Text 25"/>
          <p:cNvSpPr txBox="1"/>
          <p:nvPr/>
        </p:nvSpPr>
        <p:spPr>
          <a:xfrm>
            <a:off x="6537887" y="4341114"/>
            <a:ext cx="1554626" cy="168250"/>
          </a:xfrm>
          <a:prstGeom prst="rect">
            <a:avLst/>
          </a:prstGeom>
          <a:noFill/>
          <a:ln/>
        </p:spPr>
        <p:txBody>
          <a:bodyPr wrap="square" lIns="0" tIns="0" rIns="0" bIns="0" rtlCol="0" anchor="t"/>
          <a:lstStyle/>
          <a:p>
            <a:pPr algn="ctr" indent="0" marL="0">
              <a:buNone/>
            </a:pPr>
            <a:r>
              <a:rPr lang="en-US" sz="690" dirty="0">
                <a:solidFill>
                  <a:srgbClr val="5E6B7E"/>
                </a:solidFill>
                <a:latin typeface="Arial" pitchFamily="34" charset="0"/>
                <a:ea typeface="Arial" pitchFamily="34" charset="-122"/>
                <a:cs typeface="Arial" pitchFamily="34" charset="-120"/>
              </a:rPr>
              <a:t>Illustrative prototype</a:t>
            </a:r>
            <a:endParaRPr lang="en-US" sz="69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54864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From registration to consultation in three steps</a:t>
            </a:r>
            <a:endParaRPr lang="en-US" sz="2800" dirty="0"/>
          </a:p>
        </p:txBody>
      </p:sp>
      <p:sp>
        <p:nvSpPr>
          <p:cNvPr id="3" name="Shape 1"/>
          <p:cNvSpPr/>
          <p:nvPr/>
        </p:nvSpPr>
        <p:spPr>
          <a:xfrm>
            <a:off x="548640" y="1078992"/>
            <a:ext cx="347472" cy="347472"/>
          </a:xfrm>
          <a:prstGeom prst="ellipse">
            <a:avLst/>
          </a:prstGeom>
          <a:solidFill>
            <a:srgbClr val="2F5BD3"/>
          </a:solidFill>
          <a:ln w="12700">
            <a:solidFill>
              <a:srgbClr val="2F5BD3"/>
            </a:solidFill>
            <a:prstDash val="solid"/>
          </a:ln>
        </p:spPr>
        <p:txBody>
          <a:bodyPr/>
          <a:p/>
        </p:txBody>
      </p:sp>
      <p:sp>
        <p:nvSpPr>
          <p:cNvPr id="4" name="Text 2"/>
          <p:cNvSpPr txBox="1"/>
          <p:nvPr/>
        </p:nvSpPr>
        <p:spPr>
          <a:xfrm>
            <a:off x="548640" y="1078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5" name="Text 3"/>
          <p:cNvSpPr txBox="1"/>
          <p:nvPr/>
        </p:nvSpPr>
        <p:spPr>
          <a:xfrm>
            <a:off x="1005840" y="1078992"/>
            <a:ext cx="2103120" cy="347472"/>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Register and choose a department</a:t>
            </a:r>
            <a:endParaRPr lang="en-US" sz="1300" dirty="0"/>
          </a:p>
        </p:txBody>
      </p:sp>
      <p:sp>
        <p:nvSpPr>
          <p:cNvPr id="6" name="Shape 4"/>
          <p:cNvSpPr/>
          <p:nvPr/>
        </p:nvSpPr>
        <p:spPr>
          <a:xfrm>
            <a:off x="960120" y="1600200"/>
            <a:ext cx="1600200" cy="3246120"/>
          </a:xfrm>
          <a:prstGeom prst="roundRect">
            <a:avLst>
              <a:gd name="adj" fmla="val 14000"/>
            </a:avLst>
          </a:prstGeom>
          <a:solidFill>
            <a:srgbClr val="0B1224"/>
          </a:solidFill>
          <a:ln w="12700">
            <a:solidFill>
              <a:srgbClr val="3B4B70"/>
            </a:solidFill>
            <a:prstDash val="solid"/>
          </a:ln>
        </p:spPr>
        <p:txBody>
          <a:bodyPr/>
          <a:p/>
        </p:txBody>
      </p:sp>
      <p:sp>
        <p:nvSpPr>
          <p:cNvPr id="7" name="Shape 5"/>
          <p:cNvSpPr/>
          <p:nvPr/>
        </p:nvSpPr>
        <p:spPr>
          <a:xfrm>
            <a:off x="1056132" y="1696212"/>
            <a:ext cx="1408176" cy="3054096"/>
          </a:xfrm>
          <a:prstGeom prst="roundRect">
            <a:avLst>
              <a:gd name="adj" fmla="val 10000"/>
            </a:avLst>
          </a:prstGeom>
          <a:solidFill>
            <a:srgbClr val="FFFFFF"/>
          </a:solidFill>
          <a:ln w="12700">
            <a:solidFill>
              <a:srgbClr val="FFFFFF"/>
            </a:solidFill>
            <a:prstDash val="solid"/>
          </a:ln>
        </p:spPr>
        <p:txBody>
          <a:bodyPr/>
          <a:p/>
        </p:txBody>
      </p:sp>
      <p:sp>
        <p:nvSpPr>
          <p:cNvPr id="8" name="Text 6"/>
          <p:cNvSpPr txBox="1"/>
          <p:nvPr/>
        </p:nvSpPr>
        <p:spPr>
          <a:xfrm>
            <a:off x="1168786" y="1808226"/>
            <a:ext cx="1182868" cy="176022"/>
          </a:xfrm>
          <a:prstGeom prst="rect">
            <a:avLst/>
          </a:prstGeom>
          <a:noFill/>
          <a:ln/>
        </p:spPr>
        <p:txBody>
          <a:bodyPr wrap="square" lIns="0" tIns="0" rIns="0" bIns="0" rtlCol="0" anchor="t"/>
          <a:lstStyle/>
          <a:p>
            <a:pPr indent="0" marL="0">
              <a:buNone/>
            </a:pPr>
            <a:r>
              <a:rPr lang="en-US" sz="963" b="1" dirty="0">
                <a:solidFill>
                  <a:srgbClr val="2F5BD3"/>
                </a:solidFill>
                <a:latin typeface="Arial" pitchFamily="34" charset="0"/>
                <a:ea typeface="Arial" pitchFamily="34" charset="-122"/>
                <a:cs typeface="Arial" pitchFamily="34" charset="-120"/>
              </a:rPr>
              <a:t>SAHAI SETU</a:t>
            </a:r>
            <a:endParaRPr lang="en-US" sz="963" dirty="0"/>
          </a:p>
        </p:txBody>
      </p:sp>
      <p:sp>
        <p:nvSpPr>
          <p:cNvPr id="9" name="Shape 7"/>
          <p:cNvSpPr/>
          <p:nvPr/>
        </p:nvSpPr>
        <p:spPr>
          <a:xfrm>
            <a:off x="1168786" y="2064258"/>
            <a:ext cx="1182868" cy="240030"/>
          </a:xfrm>
          <a:prstGeom prst="roundRect">
            <a:avLst>
              <a:gd name="adj" fmla="val 50000"/>
            </a:avLst>
          </a:prstGeom>
          <a:solidFill>
            <a:srgbClr val="EEF2FA"/>
          </a:solidFill>
          <a:ln w="12700">
            <a:solidFill>
              <a:srgbClr val="D7DEEA"/>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1248796" y="2128266"/>
            <a:ext cx="112014" cy="112014"/>
          </a:xfrm>
          <a:prstGeom prst="rect">
            <a:avLst/>
          </a:prstGeom>
        </p:spPr>
      </p:pic>
      <p:sp>
        <p:nvSpPr>
          <p:cNvPr id="11" name="Text 8"/>
          <p:cNvSpPr txBox="1"/>
          <p:nvPr/>
        </p:nvSpPr>
        <p:spPr>
          <a:xfrm>
            <a:off x="1408816" y="2064258"/>
            <a:ext cx="942838" cy="240030"/>
          </a:xfrm>
          <a:prstGeom prst="rect">
            <a:avLst/>
          </a:prstGeom>
          <a:noFill/>
          <a:ln/>
        </p:spPr>
        <p:txBody>
          <a:bodyPr wrap="square" lIns="0" tIns="0" rIns="0" bIns="0" rtlCol="0" anchor="ctr"/>
          <a:lstStyle/>
          <a:p>
            <a:pPr indent="0" marL="0">
              <a:buNone/>
            </a:pPr>
            <a:r>
              <a:rPr lang="en-US" sz="700" dirty="0">
                <a:solidFill>
                  <a:srgbClr val="5E6B7E"/>
                </a:solidFill>
                <a:latin typeface="Arial" pitchFamily="34" charset="0"/>
                <a:ea typeface="Arial" pitchFamily="34" charset="-122"/>
                <a:cs typeface="Arial" pitchFamily="34" charset="-120"/>
              </a:rPr>
              <a:t>Start registration</a:t>
            </a:r>
            <a:endParaRPr lang="en-US" sz="700" dirty="0"/>
          </a:p>
        </p:txBody>
      </p:sp>
      <p:sp>
        <p:nvSpPr>
          <p:cNvPr id="12" name="Shape 9"/>
          <p:cNvSpPr/>
          <p:nvPr/>
        </p:nvSpPr>
        <p:spPr>
          <a:xfrm>
            <a:off x="1168786" y="2416302"/>
            <a:ext cx="1182868" cy="288036"/>
          </a:xfrm>
          <a:prstGeom prst="roundRect">
            <a:avLst>
              <a:gd name="adj" fmla="val 22222"/>
            </a:avLst>
          </a:prstGeom>
          <a:solidFill>
            <a:srgbClr val="E3EAFB"/>
          </a:solidFill>
          <a:ln w="12700">
            <a:solidFill>
              <a:srgbClr val="2F5BD3"/>
            </a:solidFill>
            <a:prstDash val="solid"/>
          </a:ln>
        </p:spPr>
        <p:txBody>
          <a:bodyPr/>
          <a:p/>
        </p:txBody>
      </p:sp>
      <p:sp>
        <p:nvSpPr>
          <p:cNvPr id="13" name="Text 10"/>
          <p:cNvSpPr txBox="1"/>
          <p:nvPr/>
        </p:nvSpPr>
        <p:spPr>
          <a:xfrm>
            <a:off x="1264798" y="2416302"/>
            <a:ext cx="1022848" cy="288036"/>
          </a:xfrm>
          <a:prstGeom prst="rect">
            <a:avLst/>
          </a:prstGeom>
          <a:noFill/>
          <a:ln/>
        </p:spPr>
        <p:txBody>
          <a:bodyPr wrap="square" lIns="0" tIns="0" rIns="0" bIns="0" rtlCol="0" anchor="ctr"/>
          <a:lstStyle/>
          <a:p>
            <a:pPr indent="0" marL="0">
              <a:buNone/>
            </a:pPr>
            <a:r>
              <a:rPr lang="en-US" sz="744" b="1" dirty="0">
                <a:solidFill>
                  <a:srgbClr val="1F2937"/>
                </a:solidFill>
                <a:latin typeface="Arial" pitchFamily="34" charset="0"/>
                <a:ea typeface="Arial" pitchFamily="34" charset="-122"/>
                <a:cs typeface="Arial" pitchFamily="34" charset="-120"/>
              </a:rPr>
              <a:t>Patient details</a:t>
            </a:r>
            <a:endParaRPr lang="en-US" sz="744" dirty="0"/>
          </a:p>
        </p:txBody>
      </p:sp>
      <p:sp>
        <p:nvSpPr>
          <p:cNvPr id="14" name="Shape 11"/>
          <p:cNvSpPr/>
          <p:nvPr/>
        </p:nvSpPr>
        <p:spPr>
          <a:xfrm>
            <a:off x="1168786" y="2768346"/>
            <a:ext cx="1182868" cy="288036"/>
          </a:xfrm>
          <a:prstGeom prst="roundRect">
            <a:avLst>
              <a:gd name="adj" fmla="val 22222"/>
            </a:avLst>
          </a:prstGeom>
          <a:solidFill>
            <a:srgbClr val="FFFFFF"/>
          </a:solidFill>
          <a:ln w="12700">
            <a:solidFill>
              <a:srgbClr val="D7DEEA"/>
            </a:solidFill>
            <a:prstDash val="solid"/>
          </a:ln>
        </p:spPr>
        <p:txBody>
          <a:bodyPr/>
          <a:p/>
        </p:txBody>
      </p:sp>
      <p:sp>
        <p:nvSpPr>
          <p:cNvPr id="15" name="Text 12"/>
          <p:cNvSpPr txBox="1"/>
          <p:nvPr/>
        </p:nvSpPr>
        <p:spPr>
          <a:xfrm>
            <a:off x="1264798" y="2768346"/>
            <a:ext cx="1022848" cy="288036"/>
          </a:xfrm>
          <a:prstGeom prst="rect">
            <a:avLst/>
          </a:prstGeom>
          <a:noFill/>
          <a:ln/>
        </p:spPr>
        <p:txBody>
          <a:bodyPr wrap="square" lIns="0" tIns="0" rIns="0" bIns="0" rtlCol="0" anchor="ctr"/>
          <a:lstStyle/>
          <a:p>
            <a:pPr indent="0" marL="0">
              <a:buNone/>
            </a:pPr>
            <a:r>
              <a:rPr lang="en-US" sz="744" dirty="0">
                <a:solidFill>
                  <a:srgbClr val="1F2937"/>
                </a:solidFill>
                <a:latin typeface="Arial" pitchFamily="34" charset="0"/>
                <a:ea typeface="Arial" pitchFamily="34" charset="-122"/>
                <a:cs typeface="Arial" pitchFamily="34" charset="-120"/>
              </a:rPr>
              <a:t>Preferred language</a:t>
            </a:r>
            <a:endParaRPr lang="en-US" sz="744" dirty="0"/>
          </a:p>
        </p:txBody>
      </p:sp>
      <p:sp>
        <p:nvSpPr>
          <p:cNvPr id="16" name="Shape 13"/>
          <p:cNvSpPr/>
          <p:nvPr/>
        </p:nvSpPr>
        <p:spPr>
          <a:xfrm>
            <a:off x="1168786" y="3120390"/>
            <a:ext cx="1182868" cy="288036"/>
          </a:xfrm>
          <a:prstGeom prst="roundRect">
            <a:avLst>
              <a:gd name="adj" fmla="val 22222"/>
            </a:avLst>
          </a:prstGeom>
          <a:solidFill>
            <a:srgbClr val="FFFFFF"/>
          </a:solidFill>
          <a:ln w="12700">
            <a:solidFill>
              <a:srgbClr val="D7DEEA"/>
            </a:solidFill>
            <a:prstDash val="solid"/>
          </a:ln>
        </p:spPr>
        <p:txBody>
          <a:bodyPr/>
          <a:p/>
        </p:txBody>
      </p:sp>
      <p:sp>
        <p:nvSpPr>
          <p:cNvPr id="17" name="Text 14"/>
          <p:cNvSpPr txBox="1"/>
          <p:nvPr/>
        </p:nvSpPr>
        <p:spPr>
          <a:xfrm>
            <a:off x="1264798" y="3120390"/>
            <a:ext cx="1022848" cy="288036"/>
          </a:xfrm>
          <a:prstGeom prst="rect">
            <a:avLst/>
          </a:prstGeom>
          <a:noFill/>
          <a:ln/>
        </p:spPr>
        <p:txBody>
          <a:bodyPr wrap="square" lIns="0" tIns="0" rIns="0" bIns="0" rtlCol="0" anchor="ctr"/>
          <a:lstStyle/>
          <a:p>
            <a:pPr indent="0" marL="0">
              <a:buNone/>
            </a:pPr>
            <a:r>
              <a:rPr lang="en-US" sz="744" dirty="0">
                <a:solidFill>
                  <a:srgbClr val="1F2937"/>
                </a:solidFill>
                <a:latin typeface="Arial" pitchFamily="34" charset="0"/>
                <a:ea typeface="Arial" pitchFamily="34" charset="-122"/>
                <a:cs typeface="Arial" pitchFamily="34" charset="-120"/>
              </a:rPr>
              <a:t>Choose department</a:t>
            </a:r>
            <a:endParaRPr lang="en-US" sz="744" dirty="0"/>
          </a:p>
        </p:txBody>
      </p:sp>
      <p:sp>
        <p:nvSpPr>
          <p:cNvPr id="18" name="Shape 15"/>
          <p:cNvSpPr/>
          <p:nvPr/>
        </p:nvSpPr>
        <p:spPr>
          <a:xfrm>
            <a:off x="1168786" y="3472434"/>
            <a:ext cx="1182868" cy="288036"/>
          </a:xfrm>
          <a:prstGeom prst="roundRect">
            <a:avLst>
              <a:gd name="adj" fmla="val 22222"/>
            </a:avLst>
          </a:prstGeom>
          <a:solidFill>
            <a:srgbClr val="FFFFFF"/>
          </a:solidFill>
          <a:ln w="12700">
            <a:solidFill>
              <a:srgbClr val="D7DEEA"/>
            </a:solidFill>
            <a:prstDash val="solid"/>
          </a:ln>
        </p:spPr>
        <p:txBody>
          <a:bodyPr/>
          <a:p/>
        </p:txBody>
      </p:sp>
      <p:sp>
        <p:nvSpPr>
          <p:cNvPr id="19" name="Text 16"/>
          <p:cNvSpPr txBox="1"/>
          <p:nvPr/>
        </p:nvSpPr>
        <p:spPr>
          <a:xfrm>
            <a:off x="1264798" y="3472434"/>
            <a:ext cx="1022848" cy="288036"/>
          </a:xfrm>
          <a:prstGeom prst="rect">
            <a:avLst/>
          </a:prstGeom>
          <a:noFill/>
          <a:ln/>
        </p:spPr>
        <p:txBody>
          <a:bodyPr wrap="square" lIns="0" tIns="0" rIns="0" bIns="0" rtlCol="0" anchor="ctr"/>
          <a:lstStyle/>
          <a:p>
            <a:pPr indent="0" marL="0">
              <a:buNone/>
            </a:pPr>
            <a:r>
              <a:rPr lang="en-US" sz="744" dirty="0">
                <a:solidFill>
                  <a:srgbClr val="1F2937"/>
                </a:solidFill>
                <a:latin typeface="Arial" pitchFamily="34" charset="0"/>
                <a:ea typeface="Arial" pitchFamily="34" charset="-122"/>
                <a:cs typeface="Arial" pitchFamily="34" charset="-120"/>
              </a:rPr>
              <a:t>Accessibility support</a:t>
            </a:r>
            <a:endParaRPr lang="en-US" sz="744" dirty="0"/>
          </a:p>
        </p:txBody>
      </p:sp>
      <p:sp>
        <p:nvSpPr>
          <p:cNvPr id="20" name="Shape 17"/>
          <p:cNvSpPr/>
          <p:nvPr/>
        </p:nvSpPr>
        <p:spPr>
          <a:xfrm>
            <a:off x="1168786" y="3824478"/>
            <a:ext cx="1182868" cy="288036"/>
          </a:xfrm>
          <a:prstGeom prst="roundRect">
            <a:avLst>
              <a:gd name="adj" fmla="val 22222"/>
            </a:avLst>
          </a:prstGeom>
          <a:solidFill>
            <a:srgbClr val="FFFFFF"/>
          </a:solidFill>
          <a:ln w="12700">
            <a:solidFill>
              <a:srgbClr val="D7DEEA"/>
            </a:solidFill>
            <a:prstDash val="solid"/>
          </a:ln>
        </p:spPr>
        <p:txBody>
          <a:bodyPr/>
          <a:p/>
        </p:txBody>
      </p:sp>
      <p:sp>
        <p:nvSpPr>
          <p:cNvPr id="21" name="Text 18"/>
          <p:cNvSpPr txBox="1"/>
          <p:nvPr/>
        </p:nvSpPr>
        <p:spPr>
          <a:xfrm>
            <a:off x="1264798" y="3824478"/>
            <a:ext cx="1022848" cy="288036"/>
          </a:xfrm>
          <a:prstGeom prst="rect">
            <a:avLst/>
          </a:prstGeom>
          <a:noFill/>
          <a:ln/>
        </p:spPr>
        <p:txBody>
          <a:bodyPr wrap="square" lIns="0" tIns="0" rIns="0" bIns="0" rtlCol="0" anchor="ctr"/>
          <a:lstStyle/>
          <a:p>
            <a:pPr indent="0" marL="0">
              <a:buNone/>
            </a:pPr>
            <a:r>
              <a:rPr lang="en-US" sz="744" dirty="0">
                <a:solidFill>
                  <a:srgbClr val="1F2937"/>
                </a:solidFill>
                <a:latin typeface="Arial" pitchFamily="34" charset="0"/>
                <a:ea typeface="Arial" pitchFamily="34" charset="-122"/>
                <a:cs typeface="Arial" pitchFamily="34" charset="-120"/>
              </a:rPr>
              <a:t>Continue</a:t>
            </a:r>
            <a:endParaRPr lang="en-US" sz="744" dirty="0"/>
          </a:p>
        </p:txBody>
      </p:sp>
      <p:sp>
        <p:nvSpPr>
          <p:cNvPr id="22" name="Shape 19"/>
          <p:cNvSpPr/>
          <p:nvPr/>
        </p:nvSpPr>
        <p:spPr>
          <a:xfrm>
            <a:off x="3291840" y="1078992"/>
            <a:ext cx="347472" cy="347472"/>
          </a:xfrm>
          <a:prstGeom prst="ellipse">
            <a:avLst/>
          </a:prstGeom>
          <a:solidFill>
            <a:srgbClr val="2F5BD3"/>
          </a:solidFill>
          <a:ln w="12700">
            <a:solidFill>
              <a:srgbClr val="2F5BD3"/>
            </a:solidFill>
            <a:prstDash val="solid"/>
          </a:ln>
        </p:spPr>
        <p:txBody>
          <a:bodyPr/>
          <a:p/>
        </p:txBody>
      </p:sp>
      <p:sp>
        <p:nvSpPr>
          <p:cNvPr id="23" name="Text 20"/>
          <p:cNvSpPr txBox="1"/>
          <p:nvPr/>
        </p:nvSpPr>
        <p:spPr>
          <a:xfrm>
            <a:off x="3291840" y="1078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4" name="Text 21"/>
          <p:cNvSpPr txBox="1"/>
          <p:nvPr/>
        </p:nvSpPr>
        <p:spPr>
          <a:xfrm>
            <a:off x="3749040" y="1078992"/>
            <a:ext cx="2103120" cy="347472"/>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Track your queue</a:t>
            </a:r>
            <a:endParaRPr lang="en-US" sz="1300" dirty="0"/>
          </a:p>
        </p:txBody>
      </p:sp>
      <p:sp>
        <p:nvSpPr>
          <p:cNvPr id="25" name="Shape 22"/>
          <p:cNvSpPr/>
          <p:nvPr/>
        </p:nvSpPr>
        <p:spPr>
          <a:xfrm>
            <a:off x="3703320" y="1600200"/>
            <a:ext cx="1600200" cy="3246120"/>
          </a:xfrm>
          <a:prstGeom prst="roundRect">
            <a:avLst>
              <a:gd name="adj" fmla="val 14000"/>
            </a:avLst>
          </a:prstGeom>
          <a:solidFill>
            <a:srgbClr val="0B1224"/>
          </a:solidFill>
          <a:ln w="12700">
            <a:solidFill>
              <a:srgbClr val="3B4B70"/>
            </a:solidFill>
            <a:prstDash val="solid"/>
          </a:ln>
        </p:spPr>
        <p:txBody>
          <a:bodyPr/>
          <a:p/>
        </p:txBody>
      </p:sp>
      <p:sp>
        <p:nvSpPr>
          <p:cNvPr id="26" name="Shape 23"/>
          <p:cNvSpPr/>
          <p:nvPr/>
        </p:nvSpPr>
        <p:spPr>
          <a:xfrm>
            <a:off x="3799332" y="1696212"/>
            <a:ext cx="1408176" cy="3054096"/>
          </a:xfrm>
          <a:prstGeom prst="roundRect">
            <a:avLst>
              <a:gd name="adj" fmla="val 10000"/>
            </a:avLst>
          </a:prstGeom>
          <a:solidFill>
            <a:srgbClr val="FFFFFF"/>
          </a:solidFill>
          <a:ln w="12700">
            <a:solidFill>
              <a:srgbClr val="FFFFFF"/>
            </a:solidFill>
            <a:prstDash val="solid"/>
          </a:ln>
        </p:spPr>
        <p:txBody>
          <a:bodyPr/>
          <a:p/>
        </p:txBody>
      </p:sp>
      <p:sp>
        <p:nvSpPr>
          <p:cNvPr id="27" name="Text 24"/>
          <p:cNvSpPr txBox="1"/>
          <p:nvPr/>
        </p:nvSpPr>
        <p:spPr>
          <a:xfrm>
            <a:off x="3911986" y="1808226"/>
            <a:ext cx="1182868" cy="176022"/>
          </a:xfrm>
          <a:prstGeom prst="rect">
            <a:avLst/>
          </a:prstGeom>
          <a:noFill/>
          <a:ln/>
        </p:spPr>
        <p:txBody>
          <a:bodyPr wrap="square" lIns="0" tIns="0" rIns="0" bIns="0" rtlCol="0" anchor="t"/>
          <a:lstStyle/>
          <a:p>
            <a:pPr indent="0" marL="0">
              <a:buNone/>
            </a:pPr>
            <a:r>
              <a:rPr lang="en-US" sz="963" b="1" dirty="0">
                <a:solidFill>
                  <a:srgbClr val="2F5BD3"/>
                </a:solidFill>
                <a:latin typeface="Arial" pitchFamily="34" charset="0"/>
                <a:ea typeface="Arial" pitchFamily="34" charset="-122"/>
                <a:cs typeface="Arial" pitchFamily="34" charset="-120"/>
              </a:rPr>
              <a:t>SAHAI SETU</a:t>
            </a:r>
            <a:endParaRPr lang="en-US" sz="963" dirty="0"/>
          </a:p>
        </p:txBody>
      </p:sp>
      <p:sp>
        <p:nvSpPr>
          <p:cNvPr id="28" name="Text 25"/>
          <p:cNvSpPr txBox="1"/>
          <p:nvPr/>
        </p:nvSpPr>
        <p:spPr>
          <a:xfrm>
            <a:off x="3911986" y="2064258"/>
            <a:ext cx="1182868" cy="208026"/>
          </a:xfrm>
          <a:prstGeom prst="rect">
            <a:avLst/>
          </a:prstGeom>
          <a:noFill/>
          <a:ln/>
        </p:spPr>
        <p:txBody>
          <a:bodyPr wrap="square" lIns="0" tIns="0" rIns="0" bIns="0" rtlCol="0" anchor="t"/>
          <a:lstStyle/>
          <a:p>
            <a:pPr indent="0" marL="0">
              <a:buNone/>
            </a:pPr>
            <a:r>
              <a:rPr lang="en-US" sz="875" b="1" dirty="0">
                <a:solidFill>
                  <a:srgbClr val="1F2937"/>
                </a:solidFill>
                <a:latin typeface="Arial" pitchFamily="34" charset="0"/>
                <a:ea typeface="Arial" pitchFamily="34" charset="-122"/>
                <a:cs typeface="Arial" pitchFamily="34" charset="-120"/>
              </a:rPr>
              <a:t>Your OPD token</a:t>
            </a:r>
            <a:endParaRPr lang="en-US" sz="875" dirty="0"/>
          </a:p>
        </p:txBody>
      </p:sp>
      <p:sp>
        <p:nvSpPr>
          <p:cNvPr id="29" name="Text 26"/>
          <p:cNvSpPr txBox="1"/>
          <p:nvPr/>
        </p:nvSpPr>
        <p:spPr>
          <a:xfrm>
            <a:off x="3911986" y="2336292"/>
            <a:ext cx="1182868" cy="240030"/>
          </a:xfrm>
          <a:prstGeom prst="rect">
            <a:avLst/>
          </a:prstGeom>
          <a:noFill/>
          <a:ln/>
        </p:spPr>
        <p:txBody>
          <a:bodyPr wrap="square" lIns="0" tIns="0" rIns="0" bIns="0" rtlCol="0" anchor="t"/>
          <a:lstStyle/>
          <a:p>
            <a:pPr indent="0" marL="0">
              <a:buNone/>
            </a:pPr>
            <a:r>
              <a:rPr lang="en-US" sz="700" dirty="0">
                <a:solidFill>
                  <a:srgbClr val="1F2937"/>
                </a:solidFill>
                <a:latin typeface="Arial" pitchFamily="34" charset="0"/>
                <a:ea typeface="Arial" pitchFamily="34" charset="-122"/>
                <a:cs typeface="Arial" pitchFamily="34" charset="-120"/>
              </a:rPr>
              <a:t>Token number</a:t>
            </a:r>
            <a:endParaRPr lang="en-US" sz="700" dirty="0"/>
          </a:p>
        </p:txBody>
      </p:sp>
      <p:sp>
        <p:nvSpPr>
          <p:cNvPr id="30" name="Shape 27"/>
          <p:cNvSpPr/>
          <p:nvPr/>
        </p:nvSpPr>
        <p:spPr>
          <a:xfrm>
            <a:off x="3911986" y="2592324"/>
            <a:ext cx="559430" cy="240030"/>
          </a:xfrm>
          <a:prstGeom prst="roundRect">
            <a:avLst>
              <a:gd name="adj" fmla="val 50000"/>
            </a:avLst>
          </a:prstGeom>
          <a:solidFill>
            <a:srgbClr val="2F5BD3"/>
          </a:solidFill>
          <a:ln w="12700">
            <a:solidFill>
              <a:srgbClr val="2F5BD3"/>
            </a:solidFill>
            <a:prstDash val="solid"/>
          </a:ln>
        </p:spPr>
        <p:txBody>
          <a:bodyPr/>
          <a:p/>
        </p:txBody>
      </p:sp>
      <p:sp>
        <p:nvSpPr>
          <p:cNvPr id="31" name="Text 28"/>
          <p:cNvSpPr txBox="1"/>
          <p:nvPr/>
        </p:nvSpPr>
        <p:spPr>
          <a:xfrm>
            <a:off x="3911986" y="2592324"/>
            <a:ext cx="559430" cy="24003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A-024</a:t>
            </a:r>
            <a:endParaRPr lang="en-US" sz="700" dirty="0"/>
          </a:p>
        </p:txBody>
      </p:sp>
      <p:sp>
        <p:nvSpPr>
          <p:cNvPr id="32" name="Shape 29"/>
          <p:cNvSpPr/>
          <p:nvPr/>
        </p:nvSpPr>
        <p:spPr>
          <a:xfrm>
            <a:off x="4535424" y="2592324"/>
            <a:ext cx="559430" cy="240030"/>
          </a:xfrm>
          <a:prstGeom prst="roundRect">
            <a:avLst>
              <a:gd name="adj" fmla="val 50000"/>
            </a:avLst>
          </a:prstGeom>
          <a:solidFill>
            <a:srgbClr val="FFFFFF"/>
          </a:solidFill>
          <a:ln w="12700">
            <a:solidFill>
              <a:srgbClr val="D7DEEA"/>
            </a:solidFill>
            <a:prstDash val="solid"/>
          </a:ln>
        </p:spPr>
        <p:txBody>
          <a:bodyPr/>
          <a:p/>
        </p:txBody>
      </p:sp>
      <p:sp>
        <p:nvSpPr>
          <p:cNvPr id="33" name="Text 30"/>
          <p:cNvSpPr txBox="1"/>
          <p:nvPr/>
        </p:nvSpPr>
        <p:spPr>
          <a:xfrm>
            <a:off x="4535424" y="2592324"/>
            <a:ext cx="559430" cy="240030"/>
          </a:xfrm>
          <a:prstGeom prst="rect">
            <a:avLst/>
          </a:prstGeom>
          <a:noFill/>
          <a:ln/>
        </p:spPr>
        <p:txBody>
          <a:bodyPr wrap="square" lIns="0" tIns="0" rIns="0" bIns="0" rtlCol="0" anchor="ctr"/>
          <a:lstStyle/>
          <a:p>
            <a:pPr algn="ctr" indent="0" marL="0">
              <a:buNone/>
            </a:pPr>
            <a:r>
              <a:rPr lang="en-US" sz="700" dirty="0">
                <a:solidFill>
                  <a:srgbClr val="1F2937"/>
                </a:solidFill>
                <a:latin typeface="Arial" pitchFamily="34" charset="0"/>
                <a:ea typeface="Arial" pitchFamily="34" charset="-122"/>
                <a:cs typeface="Arial" pitchFamily="34" charset="-120"/>
              </a:rPr>
              <a:t>In queue</a:t>
            </a:r>
            <a:endParaRPr lang="en-US" sz="700" dirty="0"/>
          </a:p>
        </p:txBody>
      </p:sp>
      <p:sp>
        <p:nvSpPr>
          <p:cNvPr id="34" name="Text 31"/>
          <p:cNvSpPr txBox="1"/>
          <p:nvPr/>
        </p:nvSpPr>
        <p:spPr>
          <a:xfrm>
            <a:off x="3911986" y="2960370"/>
            <a:ext cx="1182868" cy="240030"/>
          </a:xfrm>
          <a:prstGeom prst="rect">
            <a:avLst/>
          </a:prstGeom>
          <a:noFill/>
          <a:ln/>
        </p:spPr>
        <p:txBody>
          <a:bodyPr wrap="square" lIns="0" tIns="0" rIns="0" bIns="0" rtlCol="0" anchor="t"/>
          <a:lstStyle/>
          <a:p>
            <a:pPr indent="0" marL="0">
              <a:buNone/>
            </a:pPr>
            <a:r>
              <a:rPr lang="en-US" sz="700" dirty="0">
                <a:solidFill>
                  <a:srgbClr val="1F2937"/>
                </a:solidFill>
                <a:latin typeface="Arial" pitchFamily="34" charset="0"/>
                <a:ea typeface="Arial" pitchFamily="34" charset="-122"/>
                <a:cs typeface="Arial" pitchFamily="34" charset="-120"/>
              </a:rPr>
              <a:t>Estimated waiting time</a:t>
            </a:r>
            <a:endParaRPr lang="en-US" sz="700" dirty="0"/>
          </a:p>
        </p:txBody>
      </p:sp>
      <p:sp>
        <p:nvSpPr>
          <p:cNvPr id="35" name="Shape 32"/>
          <p:cNvSpPr/>
          <p:nvPr/>
        </p:nvSpPr>
        <p:spPr>
          <a:xfrm>
            <a:off x="3911986" y="3216402"/>
            <a:ext cx="559430" cy="240030"/>
          </a:xfrm>
          <a:prstGeom prst="roundRect">
            <a:avLst>
              <a:gd name="adj" fmla="val 50000"/>
            </a:avLst>
          </a:prstGeom>
          <a:solidFill>
            <a:srgbClr val="FFFFFF"/>
          </a:solidFill>
          <a:ln w="12700">
            <a:solidFill>
              <a:srgbClr val="D7DEEA"/>
            </a:solidFill>
            <a:prstDash val="solid"/>
          </a:ln>
        </p:spPr>
        <p:txBody>
          <a:bodyPr/>
          <a:p/>
        </p:txBody>
      </p:sp>
      <p:sp>
        <p:nvSpPr>
          <p:cNvPr id="36" name="Text 33"/>
          <p:cNvSpPr txBox="1"/>
          <p:nvPr/>
        </p:nvSpPr>
        <p:spPr>
          <a:xfrm>
            <a:off x="3911986" y="3216402"/>
            <a:ext cx="559430" cy="240030"/>
          </a:xfrm>
          <a:prstGeom prst="rect">
            <a:avLst/>
          </a:prstGeom>
          <a:noFill/>
          <a:ln/>
        </p:spPr>
        <p:txBody>
          <a:bodyPr wrap="square" lIns="0" tIns="0" rIns="0" bIns="0" rtlCol="0" anchor="ctr"/>
          <a:lstStyle/>
          <a:p>
            <a:pPr algn="ctr" indent="0" marL="0">
              <a:buNone/>
            </a:pPr>
            <a:r>
              <a:rPr lang="en-US" sz="700" dirty="0">
                <a:solidFill>
                  <a:srgbClr val="1F2937"/>
                </a:solidFill>
                <a:latin typeface="Arial" pitchFamily="34" charset="0"/>
                <a:ea typeface="Arial" pitchFamily="34" charset="-122"/>
                <a:cs typeface="Arial" pitchFamily="34" charset="-120"/>
              </a:rPr>
              <a:t>~25 min</a:t>
            </a:r>
            <a:endParaRPr lang="en-US" sz="700" dirty="0"/>
          </a:p>
        </p:txBody>
      </p:sp>
      <p:sp>
        <p:nvSpPr>
          <p:cNvPr id="37" name="Shape 34"/>
          <p:cNvSpPr/>
          <p:nvPr/>
        </p:nvSpPr>
        <p:spPr>
          <a:xfrm>
            <a:off x="4535424" y="3216402"/>
            <a:ext cx="559430" cy="240030"/>
          </a:xfrm>
          <a:prstGeom prst="roundRect">
            <a:avLst>
              <a:gd name="adj" fmla="val 50000"/>
            </a:avLst>
          </a:prstGeom>
          <a:solidFill>
            <a:srgbClr val="2F5BD3"/>
          </a:solidFill>
          <a:ln w="12700">
            <a:solidFill>
              <a:srgbClr val="2F5BD3"/>
            </a:solidFill>
            <a:prstDash val="solid"/>
          </a:ln>
        </p:spPr>
        <p:txBody>
          <a:bodyPr/>
          <a:p/>
        </p:txBody>
      </p:sp>
      <p:sp>
        <p:nvSpPr>
          <p:cNvPr id="38" name="Text 35"/>
          <p:cNvSpPr txBox="1"/>
          <p:nvPr/>
        </p:nvSpPr>
        <p:spPr>
          <a:xfrm>
            <a:off x="4535424" y="3216402"/>
            <a:ext cx="559430" cy="24003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Updated status</a:t>
            </a:r>
            <a:endParaRPr lang="en-US" sz="700" dirty="0"/>
          </a:p>
        </p:txBody>
      </p:sp>
      <p:sp>
        <p:nvSpPr>
          <p:cNvPr id="39" name="Text 36"/>
          <p:cNvSpPr txBox="1"/>
          <p:nvPr/>
        </p:nvSpPr>
        <p:spPr>
          <a:xfrm>
            <a:off x="3911986" y="3584448"/>
            <a:ext cx="1182868" cy="240030"/>
          </a:xfrm>
          <a:prstGeom prst="rect">
            <a:avLst/>
          </a:prstGeom>
          <a:noFill/>
          <a:ln/>
        </p:spPr>
        <p:txBody>
          <a:bodyPr wrap="square" lIns="0" tIns="0" rIns="0" bIns="0" rtlCol="0" anchor="t"/>
          <a:lstStyle/>
          <a:p>
            <a:pPr indent="0" marL="0">
              <a:buNone/>
            </a:pPr>
            <a:r>
              <a:rPr lang="en-US" sz="700" dirty="0">
                <a:solidFill>
                  <a:srgbClr val="1F2937"/>
                </a:solidFill>
                <a:latin typeface="Arial" pitchFamily="34" charset="0"/>
                <a:ea typeface="Arial" pitchFamily="34" charset="-122"/>
                <a:cs typeface="Arial" pitchFamily="34" charset="-120"/>
              </a:rPr>
              <a:t>Need help now?</a:t>
            </a:r>
            <a:endParaRPr lang="en-US" sz="700" dirty="0"/>
          </a:p>
        </p:txBody>
      </p:sp>
      <p:sp>
        <p:nvSpPr>
          <p:cNvPr id="40" name="Shape 37"/>
          <p:cNvSpPr/>
          <p:nvPr/>
        </p:nvSpPr>
        <p:spPr>
          <a:xfrm>
            <a:off x="3911986" y="3840480"/>
            <a:ext cx="559430" cy="240030"/>
          </a:xfrm>
          <a:prstGeom prst="roundRect">
            <a:avLst>
              <a:gd name="adj" fmla="val 50000"/>
            </a:avLst>
          </a:prstGeom>
          <a:solidFill>
            <a:srgbClr val="FFFFFF"/>
          </a:solidFill>
          <a:ln w="12700">
            <a:solidFill>
              <a:srgbClr val="D7DEEA"/>
            </a:solidFill>
            <a:prstDash val="solid"/>
          </a:ln>
        </p:spPr>
        <p:txBody>
          <a:bodyPr/>
          <a:p/>
        </p:txBody>
      </p:sp>
      <p:sp>
        <p:nvSpPr>
          <p:cNvPr id="41" name="Text 38"/>
          <p:cNvSpPr txBox="1"/>
          <p:nvPr/>
        </p:nvSpPr>
        <p:spPr>
          <a:xfrm>
            <a:off x="3911986" y="3840480"/>
            <a:ext cx="559430" cy="240030"/>
          </a:xfrm>
          <a:prstGeom prst="rect">
            <a:avLst/>
          </a:prstGeom>
          <a:noFill/>
          <a:ln/>
        </p:spPr>
        <p:txBody>
          <a:bodyPr wrap="square" lIns="0" tIns="0" rIns="0" bIns="0" rtlCol="0" anchor="ctr"/>
          <a:lstStyle/>
          <a:p>
            <a:pPr algn="ctr" indent="0" marL="0">
              <a:buNone/>
            </a:pPr>
            <a:r>
              <a:rPr lang="en-US" sz="700" dirty="0">
                <a:solidFill>
                  <a:srgbClr val="1F2937"/>
                </a:solidFill>
                <a:latin typeface="Arial" pitchFamily="34" charset="0"/>
                <a:ea typeface="Arial" pitchFamily="34" charset="-122"/>
                <a:cs typeface="Arial" pitchFamily="34" charset="-120"/>
              </a:rPr>
              <a:t>Request assistance</a:t>
            </a:r>
            <a:endParaRPr lang="en-US" sz="700" dirty="0"/>
          </a:p>
        </p:txBody>
      </p:sp>
      <p:sp>
        <p:nvSpPr>
          <p:cNvPr id="42" name="Shape 39"/>
          <p:cNvSpPr/>
          <p:nvPr/>
        </p:nvSpPr>
        <p:spPr>
          <a:xfrm>
            <a:off x="4535424" y="3840480"/>
            <a:ext cx="559430" cy="240030"/>
          </a:xfrm>
          <a:prstGeom prst="roundRect">
            <a:avLst>
              <a:gd name="adj" fmla="val 50000"/>
            </a:avLst>
          </a:prstGeom>
          <a:solidFill>
            <a:srgbClr val="2F5BD3"/>
          </a:solidFill>
          <a:ln w="12700">
            <a:solidFill>
              <a:srgbClr val="2F5BD3"/>
            </a:solidFill>
            <a:prstDash val="solid"/>
          </a:ln>
        </p:spPr>
        <p:txBody>
          <a:bodyPr/>
          <a:p/>
        </p:txBody>
      </p:sp>
      <p:sp>
        <p:nvSpPr>
          <p:cNvPr id="43" name="Text 40"/>
          <p:cNvSpPr txBox="1"/>
          <p:nvPr/>
        </p:nvSpPr>
        <p:spPr>
          <a:xfrm>
            <a:off x="4535424" y="3840480"/>
            <a:ext cx="559430" cy="24003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Emergency? Alert staff</a:t>
            </a:r>
            <a:endParaRPr lang="en-US" sz="700" dirty="0"/>
          </a:p>
        </p:txBody>
      </p:sp>
      <p:sp>
        <p:nvSpPr>
          <p:cNvPr id="44" name="Shape 41"/>
          <p:cNvSpPr/>
          <p:nvPr/>
        </p:nvSpPr>
        <p:spPr>
          <a:xfrm>
            <a:off x="3911986" y="4254246"/>
            <a:ext cx="1182868" cy="288036"/>
          </a:xfrm>
          <a:prstGeom prst="roundRect">
            <a:avLst>
              <a:gd name="adj" fmla="val 50000"/>
            </a:avLst>
          </a:prstGeom>
          <a:solidFill>
            <a:srgbClr val="2F5BD3"/>
          </a:solidFill>
          <a:ln w="12700">
            <a:solidFill>
              <a:srgbClr val="2F5BD3"/>
            </a:solidFill>
            <a:prstDash val="solid"/>
          </a:ln>
        </p:spPr>
        <p:txBody>
          <a:bodyPr/>
          <a:p/>
        </p:txBody>
      </p:sp>
      <p:sp>
        <p:nvSpPr>
          <p:cNvPr id="45" name="Text 42"/>
          <p:cNvSpPr txBox="1"/>
          <p:nvPr/>
        </p:nvSpPr>
        <p:spPr>
          <a:xfrm>
            <a:off x="3911986" y="4254246"/>
            <a:ext cx="1182868" cy="288036"/>
          </a:xfrm>
          <a:prstGeom prst="rect">
            <a:avLst/>
          </a:prstGeom>
          <a:noFill/>
          <a:ln/>
        </p:spPr>
        <p:txBody>
          <a:bodyPr wrap="square" lIns="0" tIns="0" rIns="0" bIns="0" rtlCol="0" anchor="ctr"/>
          <a:lstStyle/>
          <a:p>
            <a:pPr algn="ctr" indent="0" marL="0">
              <a:buNone/>
            </a:pPr>
            <a:r>
              <a:rPr lang="en-US" sz="744" b="1" dirty="0">
                <a:solidFill>
                  <a:srgbClr val="FFFFFF"/>
                </a:solidFill>
                <a:latin typeface="Arial" pitchFamily="34" charset="0"/>
                <a:ea typeface="Arial" pitchFamily="34" charset="-122"/>
                <a:cs typeface="Arial" pitchFamily="34" charset="-120"/>
              </a:rPr>
              <a:t>View queue status</a:t>
            </a:r>
            <a:endParaRPr lang="en-US" sz="744" dirty="0"/>
          </a:p>
        </p:txBody>
      </p:sp>
      <p:sp>
        <p:nvSpPr>
          <p:cNvPr id="46" name="Shape 43"/>
          <p:cNvSpPr/>
          <p:nvPr/>
        </p:nvSpPr>
        <p:spPr>
          <a:xfrm>
            <a:off x="6035040" y="1078992"/>
            <a:ext cx="347472" cy="347472"/>
          </a:xfrm>
          <a:prstGeom prst="ellipse">
            <a:avLst/>
          </a:prstGeom>
          <a:solidFill>
            <a:srgbClr val="2F5BD3"/>
          </a:solidFill>
          <a:ln w="12700">
            <a:solidFill>
              <a:srgbClr val="2F5BD3"/>
            </a:solidFill>
            <a:prstDash val="solid"/>
          </a:ln>
        </p:spPr>
        <p:txBody>
          <a:bodyPr/>
          <a:p/>
        </p:txBody>
      </p:sp>
      <p:sp>
        <p:nvSpPr>
          <p:cNvPr id="47" name="Text 44"/>
          <p:cNvSpPr txBox="1"/>
          <p:nvPr/>
        </p:nvSpPr>
        <p:spPr>
          <a:xfrm>
            <a:off x="6035040" y="1078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8" name="Text 45"/>
          <p:cNvSpPr txBox="1"/>
          <p:nvPr/>
        </p:nvSpPr>
        <p:spPr>
          <a:xfrm>
            <a:off x="6492240" y="1078992"/>
            <a:ext cx="2103120" cy="347472"/>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Find the right department</a:t>
            </a:r>
            <a:endParaRPr lang="en-US" sz="1300" dirty="0"/>
          </a:p>
        </p:txBody>
      </p:sp>
      <p:sp>
        <p:nvSpPr>
          <p:cNvPr id="49" name="Shape 46"/>
          <p:cNvSpPr/>
          <p:nvPr/>
        </p:nvSpPr>
        <p:spPr>
          <a:xfrm>
            <a:off x="6446520" y="1600200"/>
            <a:ext cx="1600200" cy="3246120"/>
          </a:xfrm>
          <a:prstGeom prst="roundRect">
            <a:avLst>
              <a:gd name="adj" fmla="val 14000"/>
            </a:avLst>
          </a:prstGeom>
          <a:solidFill>
            <a:srgbClr val="0B1224"/>
          </a:solidFill>
          <a:ln w="12700">
            <a:solidFill>
              <a:srgbClr val="3B4B70"/>
            </a:solidFill>
            <a:prstDash val="solid"/>
          </a:ln>
        </p:spPr>
        <p:txBody>
          <a:bodyPr/>
          <a:p/>
        </p:txBody>
      </p:sp>
      <p:sp>
        <p:nvSpPr>
          <p:cNvPr id="50" name="Shape 47"/>
          <p:cNvSpPr/>
          <p:nvPr/>
        </p:nvSpPr>
        <p:spPr>
          <a:xfrm>
            <a:off x="6542532" y="1696212"/>
            <a:ext cx="1408176" cy="3054096"/>
          </a:xfrm>
          <a:prstGeom prst="roundRect">
            <a:avLst>
              <a:gd name="adj" fmla="val 10000"/>
            </a:avLst>
          </a:prstGeom>
          <a:solidFill>
            <a:srgbClr val="FFFFFF"/>
          </a:solidFill>
          <a:ln w="12700">
            <a:solidFill>
              <a:srgbClr val="FFFFFF"/>
            </a:solidFill>
            <a:prstDash val="solid"/>
          </a:ln>
        </p:spPr>
        <p:txBody>
          <a:bodyPr/>
          <a:p/>
        </p:txBody>
      </p:sp>
      <p:sp>
        <p:nvSpPr>
          <p:cNvPr id="51" name="Text 48"/>
          <p:cNvSpPr txBox="1"/>
          <p:nvPr/>
        </p:nvSpPr>
        <p:spPr>
          <a:xfrm>
            <a:off x="6655186" y="1808226"/>
            <a:ext cx="1182868" cy="176022"/>
          </a:xfrm>
          <a:prstGeom prst="rect">
            <a:avLst/>
          </a:prstGeom>
          <a:noFill/>
          <a:ln/>
        </p:spPr>
        <p:txBody>
          <a:bodyPr wrap="square" lIns="0" tIns="0" rIns="0" bIns="0" rtlCol="0" anchor="t"/>
          <a:lstStyle/>
          <a:p>
            <a:pPr indent="0" marL="0">
              <a:buNone/>
            </a:pPr>
            <a:r>
              <a:rPr lang="en-US" sz="963" b="1" dirty="0">
                <a:solidFill>
                  <a:srgbClr val="2F5BD3"/>
                </a:solidFill>
                <a:latin typeface="Arial" pitchFamily="34" charset="0"/>
                <a:ea typeface="Arial" pitchFamily="34" charset="-122"/>
                <a:cs typeface="Arial" pitchFamily="34" charset="-120"/>
              </a:rPr>
              <a:t>SAHAI SETU</a:t>
            </a:r>
            <a:endParaRPr lang="en-US" sz="963" dirty="0"/>
          </a:p>
        </p:txBody>
      </p:sp>
      <p:sp>
        <p:nvSpPr>
          <p:cNvPr id="52" name="Text 49"/>
          <p:cNvSpPr txBox="1"/>
          <p:nvPr/>
        </p:nvSpPr>
        <p:spPr>
          <a:xfrm>
            <a:off x="6655186" y="2064258"/>
            <a:ext cx="1182868" cy="208026"/>
          </a:xfrm>
          <a:prstGeom prst="rect">
            <a:avLst/>
          </a:prstGeom>
          <a:noFill/>
          <a:ln/>
        </p:spPr>
        <p:txBody>
          <a:bodyPr wrap="square" lIns="0" tIns="0" rIns="0" bIns="0" rtlCol="0" anchor="t"/>
          <a:lstStyle/>
          <a:p>
            <a:pPr indent="0" marL="0">
              <a:buNone/>
            </a:pPr>
            <a:r>
              <a:rPr lang="en-US" sz="831" b="1" dirty="0">
                <a:solidFill>
                  <a:srgbClr val="1F2937"/>
                </a:solidFill>
                <a:latin typeface="Arial" pitchFamily="34" charset="0"/>
                <a:ea typeface="Arial" pitchFamily="34" charset="-122"/>
                <a:cs typeface="Arial" pitchFamily="34" charset="-120"/>
              </a:rPr>
              <a:t>Destination: Ward 4</a:t>
            </a:r>
            <a:endParaRPr lang="en-US" sz="831" dirty="0"/>
          </a:p>
        </p:txBody>
      </p:sp>
      <p:sp>
        <p:nvSpPr>
          <p:cNvPr id="53" name="Text 50"/>
          <p:cNvSpPr txBox="1"/>
          <p:nvPr/>
        </p:nvSpPr>
        <p:spPr>
          <a:xfrm>
            <a:off x="6655186" y="2272284"/>
            <a:ext cx="1182868" cy="160020"/>
          </a:xfrm>
          <a:prstGeom prst="rect">
            <a:avLst/>
          </a:prstGeom>
          <a:noFill/>
          <a:ln/>
        </p:spPr>
        <p:txBody>
          <a:bodyPr wrap="square" lIns="0" tIns="0" rIns="0" bIns="0" rtlCol="0" anchor="t"/>
          <a:lstStyle/>
          <a:p>
            <a:pPr indent="0" marL="0">
              <a:buNone/>
            </a:pPr>
            <a:r>
              <a:rPr lang="en-US" sz="656" dirty="0">
                <a:solidFill>
                  <a:srgbClr val="5E6B7E"/>
                </a:solidFill>
                <a:latin typeface="Arial" pitchFamily="34" charset="0"/>
                <a:ea typeface="Arial" pitchFamily="34" charset="-122"/>
                <a:cs typeface="Arial" pitchFamily="34" charset="-120"/>
              </a:rPr>
              <a:t>Follow the landmarks</a:t>
            </a:r>
            <a:endParaRPr lang="en-US" sz="656" dirty="0"/>
          </a:p>
        </p:txBody>
      </p:sp>
      <p:sp>
        <p:nvSpPr>
          <p:cNvPr id="54" name="Shape 51"/>
          <p:cNvSpPr/>
          <p:nvPr/>
        </p:nvSpPr>
        <p:spPr>
          <a:xfrm>
            <a:off x="6655186" y="2560320"/>
            <a:ext cx="176022" cy="176022"/>
          </a:xfrm>
          <a:prstGeom prst="ellipse">
            <a:avLst/>
          </a:prstGeom>
          <a:solidFill>
            <a:srgbClr val="18A06B"/>
          </a:solidFill>
          <a:ln w="12700">
            <a:solidFill>
              <a:srgbClr val="18A06B"/>
            </a:solidFill>
            <a:prstDash val="solid"/>
          </a:ln>
        </p:spPr>
        <p:txBody>
          <a:bodyPr/>
          <a:p/>
        </p:txBody>
      </p:sp>
      <p:pic>
        <p:nvPicPr>
          <p:cNvPr id="55" name="Image 1" descr="preencoded.png">    </p:cNvPr>
          <p:cNvPicPr>
            <a:picLocks noChangeAspect="1"/>
          </p:cNvPicPr>
          <p:nvPr/>
        </p:nvPicPr>
        <p:blipFill>
          <a:blip r:embed="rId2"/>
          <a:stretch>
            <a:fillRect/>
          </a:stretch>
        </p:blipFill>
        <p:spPr>
          <a:xfrm>
            <a:off x="6697431" y="2602565"/>
            <a:ext cx="91531" cy="91531"/>
          </a:xfrm>
          <a:prstGeom prst="rect">
            <a:avLst/>
          </a:prstGeom>
        </p:spPr>
      </p:pic>
      <p:sp>
        <p:nvSpPr>
          <p:cNvPr id="56" name="Text 52"/>
          <p:cNvSpPr txBox="1"/>
          <p:nvPr/>
        </p:nvSpPr>
        <p:spPr>
          <a:xfrm>
            <a:off x="6911218" y="254431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Registration counter</a:t>
            </a:r>
            <a:endParaRPr lang="en-US" sz="700" dirty="0"/>
          </a:p>
        </p:txBody>
      </p:sp>
      <p:sp>
        <p:nvSpPr>
          <p:cNvPr id="57" name="Shape 53"/>
          <p:cNvSpPr/>
          <p:nvPr/>
        </p:nvSpPr>
        <p:spPr>
          <a:xfrm>
            <a:off x="6655186" y="2880360"/>
            <a:ext cx="176022" cy="176022"/>
          </a:xfrm>
          <a:prstGeom prst="ellipse">
            <a:avLst/>
          </a:prstGeom>
          <a:solidFill>
            <a:srgbClr val="18A06B"/>
          </a:solidFill>
          <a:ln w="12700">
            <a:solidFill>
              <a:srgbClr val="18A06B"/>
            </a:solidFill>
            <a:prstDash val="solid"/>
          </a:ln>
        </p:spPr>
        <p:txBody>
          <a:bodyPr/>
          <a:p/>
        </p:txBody>
      </p:sp>
      <p:pic>
        <p:nvPicPr>
          <p:cNvPr id="58" name="Image 2" descr="preencoded.png">    </p:cNvPr>
          <p:cNvPicPr>
            <a:picLocks noChangeAspect="1"/>
          </p:cNvPicPr>
          <p:nvPr/>
        </p:nvPicPr>
        <p:blipFill>
          <a:blip r:embed="rId3"/>
          <a:stretch>
            <a:fillRect/>
          </a:stretch>
        </p:blipFill>
        <p:spPr>
          <a:xfrm>
            <a:off x="6697431" y="2922605"/>
            <a:ext cx="91531" cy="91531"/>
          </a:xfrm>
          <a:prstGeom prst="rect">
            <a:avLst/>
          </a:prstGeom>
        </p:spPr>
      </p:pic>
      <p:sp>
        <p:nvSpPr>
          <p:cNvPr id="59" name="Text 54"/>
          <p:cNvSpPr txBox="1"/>
          <p:nvPr/>
        </p:nvSpPr>
        <p:spPr>
          <a:xfrm>
            <a:off x="6911218" y="286435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Turn left at the stairs</a:t>
            </a:r>
            <a:endParaRPr lang="en-US" sz="700" dirty="0"/>
          </a:p>
        </p:txBody>
      </p:sp>
      <p:sp>
        <p:nvSpPr>
          <p:cNvPr id="60" name="Shape 55"/>
          <p:cNvSpPr/>
          <p:nvPr/>
        </p:nvSpPr>
        <p:spPr>
          <a:xfrm>
            <a:off x="6655186" y="3200400"/>
            <a:ext cx="176022" cy="176022"/>
          </a:xfrm>
          <a:prstGeom prst="ellipse">
            <a:avLst/>
          </a:prstGeom>
          <a:solidFill>
            <a:srgbClr val="18A06B"/>
          </a:solidFill>
          <a:ln w="12700">
            <a:solidFill>
              <a:srgbClr val="18A06B"/>
            </a:solidFill>
            <a:prstDash val="solid"/>
          </a:ln>
        </p:spPr>
        <p:txBody>
          <a:bodyPr/>
          <a:p/>
        </p:txBody>
      </p:sp>
      <p:pic>
        <p:nvPicPr>
          <p:cNvPr id="61" name="Image 3" descr="preencoded.png">    </p:cNvPr>
          <p:cNvPicPr>
            <a:picLocks noChangeAspect="1"/>
          </p:cNvPicPr>
          <p:nvPr/>
        </p:nvPicPr>
        <p:blipFill>
          <a:blip r:embed="rId4"/>
          <a:stretch>
            <a:fillRect/>
          </a:stretch>
        </p:blipFill>
        <p:spPr>
          <a:xfrm>
            <a:off x="6697431" y="3242645"/>
            <a:ext cx="91531" cy="91531"/>
          </a:xfrm>
          <a:prstGeom prst="rect">
            <a:avLst/>
          </a:prstGeom>
        </p:spPr>
      </p:pic>
      <p:sp>
        <p:nvSpPr>
          <p:cNvPr id="62" name="Text 56"/>
          <p:cNvSpPr txBox="1"/>
          <p:nvPr/>
        </p:nvSpPr>
        <p:spPr>
          <a:xfrm>
            <a:off x="6911218" y="318439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Blue door ahead</a:t>
            </a:r>
            <a:endParaRPr lang="en-US" sz="700" dirty="0"/>
          </a:p>
        </p:txBody>
      </p:sp>
      <p:sp>
        <p:nvSpPr>
          <p:cNvPr id="63" name="Shape 57"/>
          <p:cNvSpPr/>
          <p:nvPr/>
        </p:nvSpPr>
        <p:spPr>
          <a:xfrm>
            <a:off x="6655186" y="3520440"/>
            <a:ext cx="176022" cy="176022"/>
          </a:xfrm>
          <a:prstGeom prst="ellipse">
            <a:avLst/>
          </a:prstGeom>
          <a:solidFill>
            <a:srgbClr val="18A06B"/>
          </a:solidFill>
          <a:ln w="12700">
            <a:solidFill>
              <a:srgbClr val="18A06B"/>
            </a:solidFill>
            <a:prstDash val="solid"/>
          </a:ln>
        </p:spPr>
        <p:txBody>
          <a:bodyPr/>
          <a:p/>
        </p:txBody>
      </p:sp>
      <p:pic>
        <p:nvPicPr>
          <p:cNvPr id="64" name="Image 4" descr="preencoded.png">    </p:cNvPr>
          <p:cNvPicPr>
            <a:picLocks noChangeAspect="1"/>
          </p:cNvPicPr>
          <p:nvPr/>
        </p:nvPicPr>
        <p:blipFill>
          <a:blip r:embed="rId5"/>
          <a:stretch>
            <a:fillRect/>
          </a:stretch>
        </p:blipFill>
        <p:spPr>
          <a:xfrm>
            <a:off x="6697431" y="3562685"/>
            <a:ext cx="91531" cy="91531"/>
          </a:xfrm>
          <a:prstGeom prst="rect">
            <a:avLst/>
          </a:prstGeom>
        </p:spPr>
      </p:pic>
      <p:sp>
        <p:nvSpPr>
          <p:cNvPr id="65" name="Text 58"/>
          <p:cNvSpPr txBox="1"/>
          <p:nvPr/>
        </p:nvSpPr>
        <p:spPr>
          <a:xfrm>
            <a:off x="6911218" y="350443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Ward 4 entrance</a:t>
            </a:r>
            <a:endParaRPr lang="en-US" sz="700" dirty="0"/>
          </a:p>
        </p:txBody>
      </p:sp>
      <p:sp>
        <p:nvSpPr>
          <p:cNvPr id="66" name="Shape 59"/>
          <p:cNvSpPr/>
          <p:nvPr/>
        </p:nvSpPr>
        <p:spPr>
          <a:xfrm>
            <a:off x="6655186" y="3840480"/>
            <a:ext cx="176022" cy="176022"/>
          </a:xfrm>
          <a:prstGeom prst="ellipse">
            <a:avLst/>
          </a:prstGeom>
          <a:solidFill>
            <a:srgbClr val="18A06B"/>
          </a:solidFill>
          <a:ln w="12700">
            <a:solidFill>
              <a:srgbClr val="18A06B"/>
            </a:solidFill>
            <a:prstDash val="solid"/>
          </a:ln>
        </p:spPr>
        <p:txBody>
          <a:bodyPr/>
          <a:p/>
        </p:txBody>
      </p:sp>
      <p:pic>
        <p:nvPicPr>
          <p:cNvPr id="67" name="Image 5" descr="preencoded.png">    </p:cNvPr>
          <p:cNvPicPr>
            <a:picLocks noChangeAspect="1"/>
          </p:cNvPicPr>
          <p:nvPr/>
        </p:nvPicPr>
        <p:blipFill>
          <a:blip r:embed="rId6"/>
          <a:stretch>
            <a:fillRect/>
          </a:stretch>
        </p:blipFill>
        <p:spPr>
          <a:xfrm>
            <a:off x="6697431" y="3882725"/>
            <a:ext cx="91531" cy="91531"/>
          </a:xfrm>
          <a:prstGeom prst="rect">
            <a:avLst/>
          </a:prstGeom>
        </p:spPr>
      </p:pic>
      <p:sp>
        <p:nvSpPr>
          <p:cNvPr id="68" name="Text 60"/>
          <p:cNvSpPr txBox="1"/>
          <p:nvPr/>
        </p:nvSpPr>
        <p:spPr>
          <a:xfrm>
            <a:off x="6911218" y="382447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Ask staff if unsure</a:t>
            </a:r>
            <a:endParaRPr lang="en-US" sz="700" dirty="0"/>
          </a:p>
        </p:txBody>
      </p:sp>
      <p:sp>
        <p:nvSpPr>
          <p:cNvPr id="69" name="Shape 61"/>
          <p:cNvSpPr/>
          <p:nvPr/>
        </p:nvSpPr>
        <p:spPr>
          <a:xfrm>
            <a:off x="6655186" y="4254246"/>
            <a:ext cx="1182868" cy="288036"/>
          </a:xfrm>
          <a:prstGeom prst="roundRect">
            <a:avLst>
              <a:gd name="adj" fmla="val 50000"/>
            </a:avLst>
          </a:prstGeom>
          <a:solidFill>
            <a:srgbClr val="18A06B"/>
          </a:solidFill>
          <a:ln w="12700">
            <a:solidFill>
              <a:srgbClr val="18A06B"/>
            </a:solidFill>
            <a:prstDash val="solid"/>
          </a:ln>
        </p:spPr>
        <p:txBody>
          <a:bodyPr/>
          <a:p/>
        </p:txBody>
      </p:sp>
      <p:sp>
        <p:nvSpPr>
          <p:cNvPr id="70" name="Text 62"/>
          <p:cNvSpPr txBox="1"/>
          <p:nvPr/>
        </p:nvSpPr>
        <p:spPr>
          <a:xfrm>
            <a:off x="6655186" y="4254246"/>
            <a:ext cx="1182868" cy="288036"/>
          </a:xfrm>
          <a:prstGeom prst="rect">
            <a:avLst/>
          </a:prstGeom>
          <a:noFill/>
          <a:ln/>
        </p:spPr>
        <p:txBody>
          <a:bodyPr wrap="square" lIns="0" tIns="0" rIns="0" bIns="0" rtlCol="0" anchor="ctr"/>
          <a:lstStyle/>
          <a:p>
            <a:pPr algn="ctr" indent="0" marL="0">
              <a:buNone/>
            </a:pPr>
            <a:r>
              <a:rPr lang="en-US" sz="744" b="1" dirty="0">
                <a:solidFill>
                  <a:srgbClr val="FFFFFF"/>
                </a:solidFill>
                <a:latin typeface="Arial" pitchFamily="34" charset="0"/>
                <a:ea typeface="Arial" pitchFamily="34" charset="-122"/>
                <a:cs typeface="Arial" pitchFamily="34" charset="-120"/>
              </a:rPr>
              <a:t>Start directions</a:t>
            </a:r>
            <a:endParaRPr lang="en-US" sz="744" dirty="0"/>
          </a:p>
        </p:txBody>
      </p:sp>
      <p:sp>
        <p:nvSpPr>
          <p:cNvPr id="71" name="Text 63"/>
          <p:cNvSpPr txBox="1"/>
          <p:nvPr/>
        </p:nvSpPr>
        <p:spPr>
          <a:xfrm>
            <a:off x="6655186" y="4566285"/>
            <a:ext cx="1182868" cy="128016"/>
          </a:xfrm>
          <a:prstGeom prst="rect">
            <a:avLst/>
          </a:prstGeom>
          <a:noFill/>
          <a:ln/>
        </p:spPr>
        <p:txBody>
          <a:bodyPr wrap="square" lIns="0" tIns="0" rIns="0" bIns="0" rtlCol="0" anchor="t"/>
          <a:lstStyle/>
          <a:p>
            <a:pPr algn="ctr" indent="0" marL="0">
              <a:buNone/>
            </a:pPr>
            <a:r>
              <a:rPr lang="en-US" sz="525" dirty="0">
                <a:solidFill>
                  <a:srgbClr val="5E6B7E"/>
                </a:solidFill>
                <a:latin typeface="Arial" pitchFamily="34" charset="0"/>
                <a:ea typeface="Arial" pitchFamily="34" charset="-122"/>
                <a:cs typeface="Arial" pitchFamily="34" charset="-120"/>
              </a:rPr>
              <a:t>Illustrative prototype</a:t>
            </a:r>
            <a:endParaRPr lang="en-US" sz="5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Prototype plan: accessible, connected, and honest</a:t>
            </a:r>
            <a:endParaRPr lang="en-US" sz="2800" dirty="0"/>
          </a:p>
        </p:txBody>
      </p:sp>
      <p:sp>
        <p:nvSpPr>
          <p:cNvPr id="3" name="Text 1"/>
          <p:cNvSpPr txBox="1"/>
          <p:nvPr/>
        </p:nvSpPr>
        <p:spPr>
          <a:xfrm>
            <a:off x="548640" y="1234440"/>
            <a:ext cx="3840480" cy="32004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Technology approach</a:t>
            </a:r>
            <a:endParaRPr lang="en-US" sz="1600" dirty="0"/>
          </a:p>
        </p:txBody>
      </p:sp>
      <p:sp>
        <p:nvSpPr>
          <p:cNvPr id="4" name="Shape 2"/>
          <p:cNvSpPr/>
          <p:nvPr/>
        </p:nvSpPr>
        <p:spPr>
          <a:xfrm>
            <a:off x="548640" y="1737360"/>
            <a:ext cx="457200" cy="457200"/>
          </a:xfrm>
          <a:prstGeom prst="ellipse">
            <a:avLst/>
          </a:prstGeom>
          <a:solidFill>
            <a:srgbClr val="2F5BD3"/>
          </a:solidFill>
          <a:ln w="12700">
            <a:solidFill>
              <a:srgbClr val="2F5BD3"/>
            </a:solidFill>
            <a:prstDash val="solid"/>
          </a:ln>
        </p:spPr>
        <p:txBody>
          <a:bodyPr/>
          <a:p/>
        </p:txBody>
      </p:sp>
      <p:pic>
        <p:nvPicPr>
          <p:cNvPr id="5" name="Image 0" descr="preencoded.png">    </p:cNvPr>
          <p:cNvPicPr>
            <a:picLocks noChangeAspect="1"/>
          </p:cNvPicPr>
          <p:nvPr/>
        </p:nvPicPr>
        <p:blipFill>
          <a:blip r:embed="rId1"/>
          <a:stretch>
            <a:fillRect/>
          </a:stretch>
        </p:blipFill>
        <p:spPr>
          <a:xfrm>
            <a:off x="672084" y="1860804"/>
            <a:ext cx="210312" cy="210312"/>
          </a:xfrm>
          <a:prstGeom prst="rect">
            <a:avLst/>
          </a:prstGeom>
        </p:spPr>
      </p:pic>
      <p:sp>
        <p:nvSpPr>
          <p:cNvPr id="6" name="Text 3"/>
          <p:cNvSpPr txBox="1"/>
          <p:nvPr/>
        </p:nvSpPr>
        <p:spPr>
          <a:xfrm>
            <a:off x="1188720" y="1719072"/>
            <a:ext cx="310896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Patient interface</a:t>
            </a:r>
            <a:endParaRPr lang="en-US" sz="1400" dirty="0"/>
          </a:p>
        </p:txBody>
      </p:sp>
      <p:sp>
        <p:nvSpPr>
          <p:cNvPr id="7" name="Text 4"/>
          <p:cNvSpPr txBox="1"/>
          <p:nvPr/>
        </p:nvSpPr>
        <p:spPr>
          <a:xfrm>
            <a:off x="1188720" y="1993392"/>
            <a:ext cx="3108960" cy="50292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Responsive patient screens for registration, tokens, slip scanning, and directions.</a:t>
            </a:r>
            <a:endParaRPr lang="en-US" sz="1200" dirty="0"/>
          </a:p>
        </p:txBody>
      </p:sp>
      <p:sp>
        <p:nvSpPr>
          <p:cNvPr id="8" name="Shape 5"/>
          <p:cNvSpPr/>
          <p:nvPr/>
        </p:nvSpPr>
        <p:spPr>
          <a:xfrm>
            <a:off x="548640" y="2651760"/>
            <a:ext cx="457200" cy="457200"/>
          </a:xfrm>
          <a:prstGeom prst="ellipse">
            <a:avLst/>
          </a:prstGeom>
          <a:solidFill>
            <a:srgbClr val="2F5BD3"/>
          </a:solidFill>
          <a:ln w="12700">
            <a:solidFill>
              <a:srgbClr val="2F5BD3"/>
            </a:solidFill>
            <a:prstDash val="solid"/>
          </a:ln>
        </p:spPr>
        <p:txBody>
          <a:bodyPr/>
          <a:p/>
        </p:txBody>
      </p:sp>
      <p:pic>
        <p:nvPicPr>
          <p:cNvPr id="9" name="Image 1" descr="preencoded.png">    </p:cNvPr>
          <p:cNvPicPr>
            <a:picLocks noChangeAspect="1"/>
          </p:cNvPicPr>
          <p:nvPr/>
        </p:nvPicPr>
        <p:blipFill>
          <a:blip r:embed="rId2"/>
          <a:stretch>
            <a:fillRect/>
          </a:stretch>
        </p:blipFill>
        <p:spPr>
          <a:xfrm>
            <a:off x="672084" y="2775204"/>
            <a:ext cx="210312" cy="210312"/>
          </a:xfrm>
          <a:prstGeom prst="rect">
            <a:avLst/>
          </a:prstGeom>
        </p:spPr>
      </p:pic>
      <p:sp>
        <p:nvSpPr>
          <p:cNvPr id="10" name="Text 6"/>
          <p:cNvSpPr txBox="1"/>
          <p:nvPr/>
        </p:nvSpPr>
        <p:spPr>
          <a:xfrm>
            <a:off x="1188720" y="2633472"/>
            <a:ext cx="310896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Language &amp; voice support</a:t>
            </a:r>
            <a:endParaRPr lang="en-US" sz="1400" dirty="0"/>
          </a:p>
        </p:txBody>
      </p:sp>
      <p:sp>
        <p:nvSpPr>
          <p:cNvPr id="11" name="Text 7"/>
          <p:cNvSpPr txBox="1"/>
          <p:nvPr/>
        </p:nvSpPr>
        <p:spPr>
          <a:xfrm>
            <a:off x="1188720" y="2907792"/>
            <a:ext cx="3108960" cy="50292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Plan regional-language text, voice guidance, and assisted registration for users who need help.</a:t>
            </a:r>
            <a:endParaRPr lang="en-US" sz="1200" dirty="0"/>
          </a:p>
        </p:txBody>
      </p:sp>
      <p:sp>
        <p:nvSpPr>
          <p:cNvPr id="12" name="Shape 8"/>
          <p:cNvSpPr/>
          <p:nvPr/>
        </p:nvSpPr>
        <p:spPr>
          <a:xfrm>
            <a:off x="548640" y="3566160"/>
            <a:ext cx="457200" cy="457200"/>
          </a:xfrm>
          <a:prstGeom prst="ellipse">
            <a:avLst/>
          </a:prstGeom>
          <a:solidFill>
            <a:srgbClr val="2F5BD3"/>
          </a:solidFill>
          <a:ln w="12700">
            <a:solidFill>
              <a:srgbClr val="2F5BD3"/>
            </a:solidFill>
            <a:prstDash val="solid"/>
          </a:ln>
        </p:spPr>
        <p:txBody>
          <a:bodyPr/>
          <a:p/>
        </p:txBody>
      </p:sp>
      <p:pic>
        <p:nvPicPr>
          <p:cNvPr id="13" name="Image 2" descr="preencoded.png">    </p:cNvPr>
          <p:cNvPicPr>
            <a:picLocks noChangeAspect="1"/>
          </p:cNvPicPr>
          <p:nvPr/>
        </p:nvPicPr>
        <p:blipFill>
          <a:blip r:embed="rId3"/>
          <a:stretch>
            <a:fillRect/>
          </a:stretch>
        </p:blipFill>
        <p:spPr>
          <a:xfrm>
            <a:off x="672084" y="3689604"/>
            <a:ext cx="210312" cy="210312"/>
          </a:xfrm>
          <a:prstGeom prst="rect">
            <a:avLst/>
          </a:prstGeom>
        </p:spPr>
      </p:pic>
      <p:sp>
        <p:nvSpPr>
          <p:cNvPr id="14" name="Text 9"/>
          <p:cNvSpPr txBox="1"/>
          <p:nvPr/>
        </p:nvSpPr>
        <p:spPr>
          <a:xfrm>
            <a:off x="1188720" y="3547872"/>
            <a:ext cx="310896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Hospital data &amp; maps</a:t>
            </a:r>
            <a:endParaRPr lang="en-US" sz="1400" dirty="0"/>
          </a:p>
        </p:txBody>
      </p:sp>
      <p:sp>
        <p:nvSpPr>
          <p:cNvPr id="15" name="Text 10"/>
          <p:cNvSpPr txBox="1"/>
          <p:nvPr/>
        </p:nvSpPr>
        <p:spPr>
          <a:xfrm>
            <a:off x="1188720" y="3822192"/>
            <a:ext cx="3108960" cy="50292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Use a sample hospital layout and simulated patient data; verify maps before real deployment.</a:t>
            </a:r>
            <a:endParaRPr lang="en-US" sz="1200" dirty="0"/>
          </a:p>
        </p:txBody>
      </p:sp>
      <p:sp>
        <p:nvSpPr>
          <p:cNvPr id="16" name="Shape 11"/>
          <p:cNvSpPr/>
          <p:nvPr/>
        </p:nvSpPr>
        <p:spPr>
          <a:xfrm>
            <a:off x="4617720" y="1234440"/>
            <a:ext cx="1920240" cy="3383280"/>
          </a:xfrm>
          <a:prstGeom prst="roundRect">
            <a:avLst>
              <a:gd name="adj" fmla="val 7143"/>
            </a:avLst>
          </a:prstGeom>
          <a:solidFill>
            <a:srgbClr val="E8F6EF"/>
          </a:solidFill>
          <a:ln w="12700">
            <a:solidFill>
              <a:srgbClr val="E8F6EF"/>
            </a:solidFill>
            <a:prstDash val="solid"/>
          </a:ln>
        </p:spPr>
        <p:txBody>
          <a:bodyPr/>
          <a:p/>
        </p:txBody>
      </p:sp>
      <p:sp>
        <p:nvSpPr>
          <p:cNvPr id="17" name="Shape 12"/>
          <p:cNvSpPr/>
          <p:nvPr/>
        </p:nvSpPr>
        <p:spPr>
          <a:xfrm>
            <a:off x="4846320" y="1463040"/>
            <a:ext cx="420624" cy="420624"/>
          </a:xfrm>
          <a:prstGeom prst="ellipse">
            <a:avLst/>
          </a:prstGeom>
          <a:solidFill>
            <a:srgbClr val="18A06B"/>
          </a:solidFill>
          <a:ln w="12700">
            <a:solidFill>
              <a:srgbClr val="18A06B"/>
            </a:solidFill>
            <a:prstDash val="solid"/>
          </a:ln>
        </p:spPr>
        <p:txBody>
          <a:bodyPr/>
          <a:p/>
        </p:txBody>
      </p:sp>
      <p:pic>
        <p:nvPicPr>
          <p:cNvPr id="18" name="Image 3" descr="preencoded.png">    </p:cNvPr>
          <p:cNvPicPr>
            <a:picLocks noChangeAspect="1"/>
          </p:cNvPicPr>
          <p:nvPr/>
        </p:nvPicPr>
        <p:blipFill>
          <a:blip r:embed="rId4"/>
          <a:stretch>
            <a:fillRect/>
          </a:stretch>
        </p:blipFill>
        <p:spPr>
          <a:xfrm>
            <a:off x="4955682" y="1572402"/>
            <a:ext cx="201900" cy="201900"/>
          </a:xfrm>
          <a:prstGeom prst="rect">
            <a:avLst/>
          </a:prstGeom>
        </p:spPr>
      </p:pic>
      <p:sp>
        <p:nvSpPr>
          <p:cNvPr id="19" name="Text 13"/>
          <p:cNvSpPr txBox="1"/>
          <p:nvPr/>
        </p:nvSpPr>
        <p:spPr>
          <a:xfrm>
            <a:off x="4846320" y="2011680"/>
            <a:ext cx="1554480" cy="32004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Prototype scope</a:t>
            </a:r>
            <a:endParaRPr lang="en-US" sz="1600" dirty="0"/>
          </a:p>
        </p:txBody>
      </p:sp>
      <p:sp>
        <p:nvSpPr>
          <p:cNvPr id="20" name="Shape 14"/>
          <p:cNvSpPr/>
          <p:nvPr/>
        </p:nvSpPr>
        <p:spPr>
          <a:xfrm>
            <a:off x="4846320" y="2532888"/>
            <a:ext cx="91440" cy="91440"/>
          </a:xfrm>
          <a:prstGeom prst="ellipse">
            <a:avLst/>
          </a:prstGeom>
          <a:solidFill>
            <a:srgbClr val="18A06B"/>
          </a:solidFill>
          <a:ln w="12700">
            <a:solidFill>
              <a:srgbClr val="18A06B"/>
            </a:solidFill>
            <a:prstDash val="solid"/>
          </a:ln>
        </p:spPr>
        <p:txBody>
          <a:bodyPr/>
          <a:p/>
        </p:txBody>
      </p:sp>
      <p:sp>
        <p:nvSpPr>
          <p:cNvPr id="21" name="Text 15"/>
          <p:cNvSpPr txBox="1"/>
          <p:nvPr/>
        </p:nvSpPr>
        <p:spPr>
          <a:xfrm>
            <a:off x="5029200" y="2468880"/>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Assisted registration</a:t>
            </a:r>
            <a:endParaRPr lang="en-US" sz="1200" dirty="0"/>
          </a:p>
        </p:txBody>
      </p:sp>
      <p:sp>
        <p:nvSpPr>
          <p:cNvPr id="22" name="Shape 16"/>
          <p:cNvSpPr/>
          <p:nvPr/>
        </p:nvSpPr>
        <p:spPr>
          <a:xfrm>
            <a:off x="4846320" y="3063240"/>
            <a:ext cx="91440" cy="91440"/>
          </a:xfrm>
          <a:prstGeom prst="ellipse">
            <a:avLst/>
          </a:prstGeom>
          <a:solidFill>
            <a:srgbClr val="18A06B"/>
          </a:solidFill>
          <a:ln w="12700">
            <a:solidFill>
              <a:srgbClr val="18A06B"/>
            </a:solidFill>
            <a:prstDash val="solid"/>
          </a:ln>
        </p:spPr>
        <p:txBody>
          <a:bodyPr/>
          <a:p/>
        </p:txBody>
      </p:sp>
      <p:sp>
        <p:nvSpPr>
          <p:cNvPr id="23" name="Text 17"/>
          <p:cNvSpPr txBox="1"/>
          <p:nvPr/>
        </p:nvSpPr>
        <p:spPr>
          <a:xfrm>
            <a:off x="5029200" y="2999232"/>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Sample token + queue status</a:t>
            </a:r>
            <a:endParaRPr lang="en-US" sz="1200" dirty="0"/>
          </a:p>
        </p:txBody>
      </p:sp>
      <p:sp>
        <p:nvSpPr>
          <p:cNvPr id="24" name="Shape 18"/>
          <p:cNvSpPr/>
          <p:nvPr/>
        </p:nvSpPr>
        <p:spPr>
          <a:xfrm>
            <a:off x="4846320" y="3593592"/>
            <a:ext cx="91440" cy="91440"/>
          </a:xfrm>
          <a:prstGeom prst="ellipse">
            <a:avLst/>
          </a:prstGeom>
          <a:solidFill>
            <a:srgbClr val="18A06B"/>
          </a:solidFill>
          <a:ln w="12700">
            <a:solidFill>
              <a:srgbClr val="18A06B"/>
            </a:solidFill>
            <a:prstDash val="solid"/>
          </a:ln>
        </p:spPr>
        <p:txBody>
          <a:bodyPr/>
          <a:p/>
        </p:txBody>
      </p:sp>
      <p:sp>
        <p:nvSpPr>
          <p:cNvPr id="25" name="Text 19"/>
          <p:cNvSpPr txBox="1"/>
          <p:nvPr/>
        </p:nvSpPr>
        <p:spPr>
          <a:xfrm>
            <a:off x="5029200" y="3529584"/>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OPD slip scan + directions</a:t>
            </a:r>
            <a:endParaRPr lang="en-US" sz="1200" dirty="0"/>
          </a:p>
        </p:txBody>
      </p:sp>
      <p:sp>
        <p:nvSpPr>
          <p:cNvPr id="26" name="Shape 20"/>
          <p:cNvSpPr/>
          <p:nvPr/>
        </p:nvSpPr>
        <p:spPr>
          <a:xfrm>
            <a:off x="4846320" y="4123944"/>
            <a:ext cx="91440" cy="91440"/>
          </a:xfrm>
          <a:prstGeom prst="ellipse">
            <a:avLst/>
          </a:prstGeom>
          <a:solidFill>
            <a:srgbClr val="18A06B"/>
          </a:solidFill>
          <a:ln w="12700">
            <a:solidFill>
              <a:srgbClr val="18A06B"/>
            </a:solidFill>
            <a:prstDash val="solid"/>
          </a:ln>
        </p:spPr>
        <p:txBody>
          <a:bodyPr/>
          <a:p/>
        </p:txBody>
      </p:sp>
      <p:sp>
        <p:nvSpPr>
          <p:cNvPr id="27" name="Text 21"/>
          <p:cNvSpPr txBox="1"/>
          <p:nvPr/>
        </p:nvSpPr>
        <p:spPr>
          <a:xfrm>
            <a:off x="5029200" y="4059936"/>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Staff dashboard concept</a:t>
            </a:r>
            <a:endParaRPr lang="en-US" sz="1200" dirty="0"/>
          </a:p>
        </p:txBody>
      </p:sp>
      <p:sp>
        <p:nvSpPr>
          <p:cNvPr id="28" name="Shape 22"/>
          <p:cNvSpPr/>
          <p:nvPr/>
        </p:nvSpPr>
        <p:spPr>
          <a:xfrm>
            <a:off x="6675120" y="1234440"/>
            <a:ext cx="1920240" cy="3383280"/>
          </a:xfrm>
          <a:prstGeom prst="roundRect">
            <a:avLst>
              <a:gd name="adj" fmla="val 7143"/>
            </a:avLst>
          </a:prstGeom>
          <a:solidFill>
            <a:srgbClr val="FDF3E3"/>
          </a:solidFill>
          <a:ln w="12700">
            <a:solidFill>
              <a:srgbClr val="FDF3E3"/>
            </a:solidFill>
            <a:prstDash val="solid"/>
          </a:ln>
        </p:spPr>
        <p:txBody>
          <a:bodyPr/>
          <a:p/>
        </p:txBody>
      </p:sp>
      <p:sp>
        <p:nvSpPr>
          <p:cNvPr id="29" name="Shape 23"/>
          <p:cNvSpPr/>
          <p:nvPr/>
        </p:nvSpPr>
        <p:spPr>
          <a:xfrm>
            <a:off x="6903720" y="1463040"/>
            <a:ext cx="420624" cy="420624"/>
          </a:xfrm>
          <a:prstGeom prst="ellipse">
            <a:avLst/>
          </a:prstGeom>
          <a:solidFill>
            <a:srgbClr val="F0A43A"/>
          </a:solidFill>
          <a:ln w="12700">
            <a:solidFill>
              <a:srgbClr val="F0A43A"/>
            </a:solidFill>
            <a:prstDash val="solid"/>
          </a:ln>
        </p:spPr>
        <p:txBody>
          <a:bodyPr/>
          <a:p/>
        </p:txBody>
      </p:sp>
      <p:pic>
        <p:nvPicPr>
          <p:cNvPr id="30" name="Image 4" descr="preencoded.png">    </p:cNvPr>
          <p:cNvPicPr>
            <a:picLocks noChangeAspect="1"/>
          </p:cNvPicPr>
          <p:nvPr/>
        </p:nvPicPr>
        <p:blipFill>
          <a:blip r:embed="rId5"/>
          <a:stretch>
            <a:fillRect/>
          </a:stretch>
        </p:blipFill>
        <p:spPr>
          <a:xfrm>
            <a:off x="7013082" y="1572402"/>
            <a:ext cx="201900" cy="201900"/>
          </a:xfrm>
          <a:prstGeom prst="rect">
            <a:avLst/>
          </a:prstGeom>
        </p:spPr>
      </p:pic>
      <p:sp>
        <p:nvSpPr>
          <p:cNvPr id="31" name="Text 24"/>
          <p:cNvSpPr txBox="1"/>
          <p:nvPr/>
        </p:nvSpPr>
        <p:spPr>
          <a:xfrm>
            <a:off x="6903720" y="2011680"/>
            <a:ext cx="1554480" cy="32004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Planned / not yet integrated</a:t>
            </a:r>
            <a:endParaRPr lang="en-US" sz="1600" dirty="0"/>
          </a:p>
        </p:txBody>
      </p:sp>
      <p:sp>
        <p:nvSpPr>
          <p:cNvPr id="32" name="Shape 25"/>
          <p:cNvSpPr/>
          <p:nvPr/>
        </p:nvSpPr>
        <p:spPr>
          <a:xfrm>
            <a:off x="6903720" y="2532888"/>
            <a:ext cx="91440" cy="91440"/>
          </a:xfrm>
          <a:prstGeom prst="ellipse">
            <a:avLst/>
          </a:prstGeom>
          <a:solidFill>
            <a:srgbClr val="F0A43A"/>
          </a:solidFill>
          <a:ln w="12700">
            <a:solidFill>
              <a:srgbClr val="F0A43A"/>
            </a:solidFill>
            <a:prstDash val="solid"/>
          </a:ln>
        </p:spPr>
        <p:txBody>
          <a:bodyPr/>
          <a:p/>
        </p:txBody>
      </p:sp>
      <p:sp>
        <p:nvSpPr>
          <p:cNvPr id="33" name="Text 26"/>
          <p:cNvSpPr txBox="1"/>
          <p:nvPr/>
        </p:nvSpPr>
        <p:spPr>
          <a:xfrm>
            <a:off x="7086600" y="2468880"/>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Live queue + turn alerts</a:t>
            </a:r>
            <a:endParaRPr lang="en-US" sz="1200" dirty="0"/>
          </a:p>
        </p:txBody>
      </p:sp>
      <p:sp>
        <p:nvSpPr>
          <p:cNvPr id="34" name="Shape 27"/>
          <p:cNvSpPr/>
          <p:nvPr/>
        </p:nvSpPr>
        <p:spPr>
          <a:xfrm>
            <a:off x="6903720" y="3063240"/>
            <a:ext cx="91440" cy="91440"/>
          </a:xfrm>
          <a:prstGeom prst="ellipse">
            <a:avLst/>
          </a:prstGeom>
          <a:solidFill>
            <a:srgbClr val="F0A43A"/>
          </a:solidFill>
          <a:ln w="12700">
            <a:solidFill>
              <a:srgbClr val="F0A43A"/>
            </a:solidFill>
            <a:prstDash val="solid"/>
          </a:ln>
        </p:spPr>
        <p:txBody>
          <a:bodyPr/>
          <a:p/>
        </p:txBody>
      </p:sp>
      <p:sp>
        <p:nvSpPr>
          <p:cNvPr id="35" name="Text 28"/>
          <p:cNvSpPr txBox="1"/>
          <p:nvPr/>
        </p:nvSpPr>
        <p:spPr>
          <a:xfrm>
            <a:off x="7086600" y="2999232"/>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Doctor availability + ABDM/FHIR</a:t>
            </a:r>
            <a:endParaRPr lang="en-US" sz="1200" dirty="0"/>
          </a:p>
        </p:txBody>
      </p:sp>
      <p:sp>
        <p:nvSpPr>
          <p:cNvPr id="36" name="Rounded Rectangle 35"/>
          <p:cNvSpPr/>
          <p:nvPr/>
        </p:nvSpPr>
        <p:spPr>
          <a:xfrm>
            <a:off x="594360" y="4599432"/>
            <a:ext cx="7955279" cy="347472"/>
          </a:xfrm>
          <a:prstGeom prst="roundRect">
            <a:avLst/>
          </a:prstGeom>
          <a:solidFill>
            <a:srgbClr val="FFF4E0"/>
          </a:solidFill>
          <a:ln>
            <a:solidFill>
              <a:srgbClr val="E6A63F"/>
            </a:solidFill>
          </a:ln>
        </p:spPr>
        <p:style>
          <a:lnRef idx="1">
            <a:schemeClr val="accent1"/>
          </a:lnRef>
          <a:fillRef idx="3">
            <a:schemeClr val="accent1"/>
          </a:fillRef>
          <a:effectRef idx="2">
            <a:schemeClr val="accent1"/>
          </a:effectRef>
          <a:fontRef idx="minor">
            <a:schemeClr val="lt1"/>
          </a:fontRef>
        </p:style>
        <p:txBody>
          <a:bodyPr rtlCol="0" anchor="ctr" lIns="109728" tIns="18288" bIns="9144"/>
          <a:lstStyle/>
          <a:p>
            <a:pPr algn="ctr"/>
            <a:r>
              <a:rPr sz="1000" b="1">
                <a:solidFill>
                  <a:srgbClr val="6E410A"/>
                </a:solidFill>
                <a:latin typeface="Aptos"/>
              </a:rPr>
              <a:t>SAFETY: Emergency cases go to qualified staff immediately. Digital queues must never delay urgent care.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Who benefits—and what we build next</a:t>
            </a:r>
            <a:endParaRPr lang="en-US" sz="2800" dirty="0"/>
          </a:p>
        </p:txBody>
      </p:sp>
      <p:sp>
        <p:nvSpPr>
          <p:cNvPr id="3" name="Text 1"/>
          <p:cNvSpPr txBox="1"/>
          <p:nvPr/>
        </p:nvSpPr>
        <p:spPr>
          <a:xfrm>
            <a:off x="548640" y="1234440"/>
            <a:ext cx="4023360" cy="32004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Who it helps</a:t>
            </a:r>
            <a:endParaRPr lang="en-US" sz="1600" dirty="0"/>
          </a:p>
        </p:txBody>
      </p:sp>
      <p:sp>
        <p:nvSpPr>
          <p:cNvPr id="4" name="Shape 2"/>
          <p:cNvSpPr/>
          <p:nvPr/>
        </p:nvSpPr>
        <p:spPr>
          <a:xfrm>
            <a:off x="548640" y="1737360"/>
            <a:ext cx="457200" cy="457200"/>
          </a:xfrm>
          <a:prstGeom prst="ellipse">
            <a:avLst/>
          </a:prstGeom>
          <a:solidFill>
            <a:srgbClr val="2F5BD3"/>
          </a:solidFill>
          <a:ln w="12700">
            <a:solidFill>
              <a:srgbClr val="2F5BD3"/>
            </a:solidFill>
            <a:prstDash val="solid"/>
          </a:ln>
        </p:spPr>
        <p:txBody>
          <a:bodyPr/>
          <a:p/>
        </p:txBody>
      </p:sp>
      <p:pic>
        <p:nvPicPr>
          <p:cNvPr id="5" name="Image 0" descr="preencoded.png">    </p:cNvPr>
          <p:cNvPicPr>
            <a:picLocks noChangeAspect="1"/>
          </p:cNvPicPr>
          <p:nvPr/>
        </p:nvPicPr>
        <p:blipFill>
          <a:blip r:embed="rId1"/>
          <a:stretch>
            <a:fillRect/>
          </a:stretch>
        </p:blipFill>
        <p:spPr>
          <a:xfrm>
            <a:off x="662940" y="1851660"/>
            <a:ext cx="228600" cy="228600"/>
          </a:xfrm>
          <a:prstGeom prst="rect">
            <a:avLst/>
          </a:prstGeom>
        </p:spPr>
      </p:pic>
      <p:sp>
        <p:nvSpPr>
          <p:cNvPr id="6" name="Text 3"/>
          <p:cNvSpPr txBox="1"/>
          <p:nvPr/>
        </p:nvSpPr>
        <p:spPr>
          <a:xfrm>
            <a:off x="1188720" y="1719072"/>
            <a:ext cx="338328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Patients and caregivers</a:t>
            </a:r>
            <a:endParaRPr lang="en-US" sz="1400" dirty="0"/>
          </a:p>
        </p:txBody>
      </p:sp>
      <p:sp>
        <p:nvSpPr>
          <p:cNvPr id="7" name="Text 4"/>
          <p:cNvSpPr txBox="1"/>
          <p:nvPr/>
        </p:nvSpPr>
        <p:spPr>
          <a:xfrm>
            <a:off x="1188720" y="1993392"/>
            <a:ext cx="3383280" cy="54864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People who need clearer registration steps, queue updates, and directions.</a:t>
            </a:r>
            <a:endParaRPr lang="en-US" sz="1200" dirty="0"/>
          </a:p>
        </p:txBody>
      </p:sp>
      <p:sp>
        <p:nvSpPr>
          <p:cNvPr id="8" name="Shape 5"/>
          <p:cNvSpPr/>
          <p:nvPr/>
        </p:nvSpPr>
        <p:spPr>
          <a:xfrm>
            <a:off x="548640" y="2651760"/>
            <a:ext cx="457200" cy="457200"/>
          </a:xfrm>
          <a:prstGeom prst="ellipse">
            <a:avLst/>
          </a:prstGeom>
          <a:solidFill>
            <a:srgbClr val="2F5BD3"/>
          </a:solidFill>
          <a:ln w="12700">
            <a:solidFill>
              <a:srgbClr val="2F5BD3"/>
            </a:solidFill>
            <a:prstDash val="solid"/>
          </a:ln>
        </p:spPr>
        <p:txBody>
          <a:bodyPr/>
          <a:p/>
        </p:txBody>
      </p:sp>
      <p:pic>
        <p:nvPicPr>
          <p:cNvPr id="9" name="Image 1" descr="preencoded.png">    </p:cNvPr>
          <p:cNvPicPr>
            <a:picLocks noChangeAspect="1"/>
          </p:cNvPicPr>
          <p:nvPr/>
        </p:nvPicPr>
        <p:blipFill>
          <a:blip r:embed="rId2"/>
          <a:stretch>
            <a:fillRect/>
          </a:stretch>
        </p:blipFill>
        <p:spPr>
          <a:xfrm>
            <a:off x="662940" y="2766060"/>
            <a:ext cx="228600" cy="228600"/>
          </a:xfrm>
          <a:prstGeom prst="rect">
            <a:avLst/>
          </a:prstGeom>
        </p:spPr>
      </p:pic>
      <p:sp>
        <p:nvSpPr>
          <p:cNvPr id="10" name="Text 6"/>
          <p:cNvSpPr txBox="1"/>
          <p:nvPr/>
        </p:nvSpPr>
        <p:spPr>
          <a:xfrm>
            <a:off x="1188720" y="2633472"/>
            <a:ext cx="338328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Elderly and accessibility users</a:t>
            </a:r>
            <a:endParaRPr lang="en-US" sz="1400" dirty="0"/>
          </a:p>
        </p:txBody>
      </p:sp>
      <p:sp>
        <p:nvSpPr>
          <p:cNvPr id="11" name="Text 7"/>
          <p:cNvSpPr txBox="1"/>
          <p:nvPr/>
        </p:nvSpPr>
        <p:spPr>
          <a:xfrm>
            <a:off x="1188720" y="2907792"/>
            <a:ext cx="3383280" cy="54864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People who benefit from regional languages, readable screens, voice guidance, or assisted registration.</a:t>
            </a:r>
            <a:endParaRPr lang="en-US" sz="1200" dirty="0"/>
          </a:p>
        </p:txBody>
      </p:sp>
      <p:sp>
        <p:nvSpPr>
          <p:cNvPr id="12" name="Shape 8"/>
          <p:cNvSpPr/>
          <p:nvPr/>
        </p:nvSpPr>
        <p:spPr>
          <a:xfrm>
            <a:off x="548640" y="3566160"/>
            <a:ext cx="457200" cy="457200"/>
          </a:xfrm>
          <a:prstGeom prst="ellipse">
            <a:avLst/>
          </a:prstGeom>
          <a:solidFill>
            <a:srgbClr val="2F5BD3"/>
          </a:solidFill>
          <a:ln w="12700">
            <a:solidFill>
              <a:srgbClr val="2F5BD3"/>
            </a:solidFill>
            <a:prstDash val="solid"/>
          </a:ln>
        </p:spPr>
        <p:txBody>
          <a:bodyPr/>
          <a:p/>
        </p:txBody>
      </p:sp>
      <p:pic>
        <p:nvPicPr>
          <p:cNvPr id="13" name="Image 2" descr="preencoded.png">    </p:cNvPr>
          <p:cNvPicPr>
            <a:picLocks noChangeAspect="1"/>
          </p:cNvPicPr>
          <p:nvPr/>
        </p:nvPicPr>
        <p:blipFill>
          <a:blip r:embed="rId3"/>
          <a:stretch>
            <a:fillRect/>
          </a:stretch>
        </p:blipFill>
        <p:spPr>
          <a:xfrm>
            <a:off x="662940" y="3680460"/>
            <a:ext cx="228600" cy="228600"/>
          </a:xfrm>
          <a:prstGeom prst="rect">
            <a:avLst/>
          </a:prstGeom>
        </p:spPr>
      </p:pic>
      <p:sp>
        <p:nvSpPr>
          <p:cNvPr id="14" name="Text 9"/>
          <p:cNvSpPr txBox="1"/>
          <p:nvPr/>
        </p:nvSpPr>
        <p:spPr>
          <a:xfrm>
            <a:off x="1188720" y="3547872"/>
            <a:ext cx="338328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Hospital staff</a:t>
            </a:r>
            <a:endParaRPr lang="en-US" sz="1400" dirty="0"/>
          </a:p>
        </p:txBody>
      </p:sp>
      <p:sp>
        <p:nvSpPr>
          <p:cNvPr id="15" name="Text 10"/>
          <p:cNvSpPr txBox="1"/>
          <p:nvPr/>
        </p:nvSpPr>
        <p:spPr>
          <a:xfrm>
            <a:off x="1188720" y="3822192"/>
            <a:ext cx="3383280" cy="54864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Teams coordinating patient flow, counters, departments, and overcrowding.</a:t>
            </a:r>
            <a:endParaRPr lang="en-US" sz="1200" dirty="0"/>
          </a:p>
        </p:txBody>
      </p:sp>
      <p:sp>
        <p:nvSpPr>
          <p:cNvPr id="16" name="Shape 11"/>
          <p:cNvSpPr/>
          <p:nvPr/>
        </p:nvSpPr>
        <p:spPr>
          <a:xfrm>
            <a:off x="4937760" y="1234440"/>
            <a:ext cx="3657600" cy="3383280"/>
          </a:xfrm>
          <a:prstGeom prst="roundRect">
            <a:avLst>
              <a:gd name="adj" fmla="val 4054"/>
            </a:avLst>
          </a:prstGeom>
          <a:solidFill>
            <a:srgbClr val="14213D"/>
          </a:solidFill>
          <a:ln w="12700">
            <a:solidFill>
              <a:srgbClr val="14213D"/>
            </a:solidFill>
            <a:prstDash val="solid"/>
          </a:ln>
        </p:spPr>
        <p:txBody>
          <a:bodyPr/>
          <a:p/>
        </p:txBody>
      </p:sp>
      <p:sp>
        <p:nvSpPr>
          <p:cNvPr id="17" name="Text 12"/>
          <p:cNvSpPr txBox="1"/>
          <p:nvPr/>
        </p:nvSpPr>
        <p:spPr>
          <a:xfrm>
            <a:off x="5212080" y="1463040"/>
            <a:ext cx="320040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Next priorities</a:t>
            </a:r>
            <a:endParaRPr lang="en-US" sz="1600" dirty="0"/>
          </a:p>
        </p:txBody>
      </p:sp>
      <p:sp>
        <p:nvSpPr>
          <p:cNvPr id="18" name="Shape 13"/>
          <p:cNvSpPr/>
          <p:nvPr/>
        </p:nvSpPr>
        <p:spPr>
          <a:xfrm>
            <a:off x="5212080" y="2057400"/>
            <a:ext cx="365760" cy="365760"/>
          </a:xfrm>
          <a:prstGeom prst="ellipse">
            <a:avLst/>
          </a:prstGeom>
          <a:solidFill>
            <a:srgbClr val="F0A43A"/>
          </a:solidFill>
          <a:ln w="12700">
            <a:solidFill>
              <a:srgbClr val="F0A43A"/>
            </a:solidFill>
            <a:prstDash val="solid"/>
          </a:ln>
        </p:spPr>
        <p:txBody>
          <a:bodyPr/>
          <a:p/>
        </p:txBody>
      </p:sp>
      <p:sp>
        <p:nvSpPr>
          <p:cNvPr id="19" name="Text 14"/>
          <p:cNvSpPr txBox="1"/>
          <p:nvPr/>
        </p:nvSpPr>
        <p:spPr>
          <a:xfrm>
            <a:off x="5212080" y="20574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0" name="Text 15"/>
          <p:cNvSpPr txBox="1"/>
          <p:nvPr/>
        </p:nvSpPr>
        <p:spPr>
          <a:xfrm>
            <a:off x="5760720" y="2039112"/>
            <a:ext cx="2606040" cy="68580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Validate the flow with patients and hospital staff</a:t>
            </a:r>
            <a:endParaRPr lang="en-US" sz="1300" dirty="0"/>
          </a:p>
        </p:txBody>
      </p:sp>
      <p:sp>
        <p:nvSpPr>
          <p:cNvPr id="21" name="Shape 16"/>
          <p:cNvSpPr/>
          <p:nvPr/>
        </p:nvSpPr>
        <p:spPr>
          <a:xfrm>
            <a:off x="5212080" y="2880360"/>
            <a:ext cx="365760" cy="365760"/>
          </a:xfrm>
          <a:prstGeom prst="ellipse">
            <a:avLst/>
          </a:prstGeom>
          <a:solidFill>
            <a:srgbClr val="F0A43A"/>
          </a:solidFill>
          <a:ln w="12700">
            <a:solidFill>
              <a:srgbClr val="F0A43A"/>
            </a:solidFill>
            <a:prstDash val="solid"/>
          </a:ln>
        </p:spPr>
        <p:txBody>
          <a:bodyPr/>
          <a:p/>
        </p:txBody>
      </p:sp>
      <p:sp>
        <p:nvSpPr>
          <p:cNvPr id="22" name="Text 17"/>
          <p:cNvSpPr txBox="1"/>
          <p:nvPr/>
        </p:nvSpPr>
        <p:spPr>
          <a:xfrm>
            <a:off x="5212080" y="2880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3" name="Text 18"/>
          <p:cNvSpPr txBox="1"/>
          <p:nvPr/>
        </p:nvSpPr>
        <p:spPr>
          <a:xfrm>
            <a:off x="5760720" y="2862072"/>
            <a:ext cx="2606040" cy="68580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Add verified hospital maps and local-language guidance</a:t>
            </a:r>
            <a:endParaRPr lang="en-US" sz="1300" dirty="0"/>
          </a:p>
        </p:txBody>
      </p:sp>
      <p:sp>
        <p:nvSpPr>
          <p:cNvPr id="24" name="Shape 19"/>
          <p:cNvSpPr/>
          <p:nvPr/>
        </p:nvSpPr>
        <p:spPr>
          <a:xfrm>
            <a:off x="5212080" y="3703320"/>
            <a:ext cx="365760" cy="365760"/>
          </a:xfrm>
          <a:prstGeom prst="ellipse">
            <a:avLst/>
          </a:prstGeom>
          <a:solidFill>
            <a:srgbClr val="F0A43A"/>
          </a:solidFill>
          <a:ln w="12700">
            <a:solidFill>
              <a:srgbClr val="F0A43A"/>
            </a:solidFill>
            <a:prstDash val="solid"/>
          </a:ln>
        </p:spPr>
        <p:txBody>
          <a:bodyPr/>
          <a:p/>
        </p:txBody>
      </p:sp>
      <p:sp>
        <p:nvSpPr>
          <p:cNvPr id="25" name="Text 20"/>
          <p:cNvSpPr txBox="1"/>
          <p:nvPr/>
        </p:nvSpPr>
        <p:spPr>
          <a:xfrm>
            <a:off x="5212080" y="3703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1"/>
          <p:cNvSpPr txBox="1"/>
          <p:nvPr/>
        </p:nvSpPr>
        <p:spPr>
          <a:xfrm>
            <a:off x="5760720" y="3685032"/>
            <a:ext cx="2606040" cy="68580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Connect verified queue data, turn notifications, and emergency escalation to staff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pic>
        <p:nvPicPr>
          <p:cNvPr id="2" name="Image 0" descr="/private/tmp/claude-501/-Users-nitinraina-cachedinfo/a7d1d877-a336-4565-adcb-7cbe51d8340f/scratchpad/deck/brand/lockup-on-dark.png">    </p:cNvPr>
          <p:cNvPicPr>
            <a:picLocks noChangeAspect="1"/>
          </p:cNvPicPr>
          <p:nvPr/>
        </p:nvPicPr>
        <p:blipFill>
          <a:blip r:embed="rId1"/>
          <a:stretch>
            <a:fillRect/>
          </a:stretch>
        </p:blipFill>
        <p:spPr>
          <a:xfrm>
            <a:off x="6274045" y="704088"/>
            <a:ext cx="2321315" cy="329184"/>
          </a:xfrm>
          <a:prstGeom prst="rect">
            <a:avLst/>
          </a:prstGeom>
        </p:spPr>
      </p:pic>
      <p:pic>
        <p:nvPicPr>
          <p:cNvPr id="3" name="Image 1" descr="/private/tmp/claude-501/-Users-nitinraina-cachedinfo/a7d1d877-a336-4565-adcb-7cbe51d8340f/scratchpad/deck/brand/wordmark-on-dark.png">    </p:cNvPr>
          <p:cNvPicPr>
            <a:picLocks noChangeAspect="1"/>
          </p:cNvPicPr>
          <p:nvPr/>
        </p:nvPicPr>
        <p:blipFill>
          <a:blip r:embed="rId2"/>
          <a:stretch>
            <a:fillRect/>
          </a:stretch>
        </p:blipFill>
        <p:spPr>
          <a:xfrm>
            <a:off x="6417140" y="4526280"/>
            <a:ext cx="2178220" cy="182880"/>
          </a:xfrm>
          <a:prstGeom prst="rect">
            <a:avLst/>
          </a:prstGeom>
        </p:spPr>
      </p:pic>
      <p:sp>
        <p:nvSpPr>
          <p:cNvPr id="4" name="Text 0"/>
          <p:cNvSpPr txBox="1"/>
          <p:nvPr/>
        </p:nvSpPr>
        <p:spPr>
          <a:xfrm>
            <a:off x="548640" y="502920"/>
            <a:ext cx="5486400"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SAHAI SETU Team</a:t>
            </a:r>
            <a:endParaRPr lang="en-US" sz="4000" dirty="0"/>
          </a:p>
        </p:txBody>
      </p:sp>
      <p:sp>
        <p:nvSpPr>
          <p:cNvPr id="5" name="Text 1"/>
          <p:cNvSpPr txBox="1"/>
          <p:nvPr/>
        </p:nvSpPr>
        <p:spPr>
          <a:xfrm>
            <a:off x="548640" y="1234440"/>
            <a:ext cx="8046720" cy="365760"/>
          </a:xfrm>
          <a:prstGeom prst="rect">
            <a:avLst/>
          </a:prstGeom>
          <a:noFill/>
          <a:ln/>
        </p:spPr>
        <p:txBody>
          <a:bodyPr wrap="square" lIns="0" tIns="0" rIns="0" bIns="0" rtlCol="0" anchor="t"/>
          <a:lstStyle/>
          <a:p>
            <a:pPr indent="0" marL="0">
              <a:buNone/>
            </a:pPr>
            <a:r>
              <a:rPr lang="en-US" sz="1600" dirty="0">
                <a:solidFill>
                  <a:srgbClr val="B9C8F2"/>
                </a:solidFill>
                <a:latin typeface="Arial" pitchFamily="34" charset="0"/>
                <a:ea typeface="Arial" pitchFamily="34" charset="-122"/>
                <a:cs typeface="Arial" pitchFamily="34" charset="-120"/>
              </a:rPr>
              <a:t>A prototype for simpler government-hospital visits.</a:t>
            </a:r>
            <a:endParaRPr lang="en-US" sz="1600" dirty="0"/>
          </a:p>
        </p:txBody>
      </p:sp>
      <p:sp>
        <p:nvSpPr>
          <p:cNvPr id="6" name="Shape 2"/>
          <p:cNvSpPr/>
          <p:nvPr/>
        </p:nvSpPr>
        <p:spPr>
          <a:xfrm>
            <a:off x="548640" y="1920240"/>
            <a:ext cx="2468880" cy="1143000"/>
          </a:xfrm>
          <a:prstGeom prst="roundRect">
            <a:avLst>
              <a:gd name="adj" fmla="val 12000"/>
            </a:avLst>
          </a:prstGeom>
          <a:solidFill>
            <a:srgbClr val="1D2D52"/>
          </a:solidFill>
          <a:ln w="12700">
            <a:solidFill>
              <a:srgbClr val="1D2D52"/>
            </a:solidFill>
            <a:prstDash val="solid"/>
          </a:ln>
        </p:spPr>
        <p:txBody>
          <a:bodyPr/>
          <a:p/>
        </p:txBody>
      </p:sp>
      <p:sp>
        <p:nvSpPr>
          <p:cNvPr id="7" name="Shape 3"/>
          <p:cNvSpPr/>
          <p:nvPr/>
        </p:nvSpPr>
        <p:spPr>
          <a:xfrm>
            <a:off x="777240" y="2194560"/>
            <a:ext cx="594360" cy="594360"/>
          </a:xfrm>
          <a:prstGeom prst="ellipse">
            <a:avLst/>
          </a:prstGeom>
          <a:solidFill>
            <a:srgbClr val="2F5BD3"/>
          </a:solidFill>
          <a:ln w="12700">
            <a:solidFill>
              <a:srgbClr val="2F5BD3"/>
            </a:solidFill>
            <a:prstDash val="solid"/>
          </a:ln>
        </p:spPr>
        <p:txBody>
          <a:bodyPr/>
          <a:p/>
        </p:txBody>
      </p:sp>
      <p:sp>
        <p:nvSpPr>
          <p:cNvPr id="8" name="Text 4"/>
          <p:cNvSpPr txBox="1"/>
          <p:nvPr/>
        </p:nvSpPr>
        <p:spPr>
          <a:xfrm>
            <a:off x="777240" y="219456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a:t>
            </a:r>
            <a:endParaRPr lang="en-US" sz="1500" dirty="0"/>
          </a:p>
        </p:txBody>
      </p:sp>
      <p:sp>
        <p:nvSpPr>
          <p:cNvPr id="9" name="Text 5"/>
          <p:cNvSpPr txBox="1"/>
          <p:nvPr/>
        </p:nvSpPr>
        <p:spPr>
          <a:xfrm>
            <a:off x="1508760" y="2212848"/>
            <a:ext cx="141732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Rakesh</a:t>
            </a:r>
            <a:endParaRPr lang="en-US" sz="1400" dirty="0"/>
          </a:p>
        </p:txBody>
      </p:sp>
      <p:sp>
        <p:nvSpPr>
          <p:cNvPr id="10" name="Text 6"/>
          <p:cNvSpPr txBox="1"/>
          <p:nvPr/>
        </p:nvSpPr>
        <p:spPr>
          <a:xfrm>
            <a:off x="1508760" y="2505456"/>
            <a:ext cx="1417320" cy="274320"/>
          </a:xfrm>
          <a:prstGeom prst="rect">
            <a:avLst/>
          </a:prstGeom>
          <a:noFill/>
          <a:ln/>
        </p:spPr>
        <p:txBody>
          <a:bodyPr wrap="square" lIns="0" tIns="0" rIns="0" bIns="0" rtlCol="0" anchor="t"/>
          <a:lstStyle/>
          <a:p>
            <a:pPr indent="0" marL="0">
              <a:buNone/>
            </a:pPr>
            <a:r>
              <a:rPr lang="en-US" sz="1100" dirty="0">
                <a:solidFill>
                  <a:srgbClr val="9AA8C7"/>
                </a:solidFill>
                <a:latin typeface="Arial" pitchFamily="34" charset="0"/>
                <a:ea typeface="Arial" pitchFamily="34" charset="-122"/>
                <a:cs typeface="Arial" pitchFamily="34" charset="-120"/>
              </a:rPr>
              <a:t>Team Leader · Product concept</a:t>
            </a:r>
            <a:endParaRPr lang="en-US" sz="1100" dirty="0"/>
          </a:p>
        </p:txBody>
      </p:sp>
      <p:sp>
        <p:nvSpPr>
          <p:cNvPr id="11" name="Shape 7"/>
          <p:cNvSpPr/>
          <p:nvPr/>
        </p:nvSpPr>
        <p:spPr>
          <a:xfrm>
            <a:off x="3246120" y="1920240"/>
            <a:ext cx="2468880" cy="1143000"/>
          </a:xfrm>
          <a:prstGeom prst="roundRect">
            <a:avLst>
              <a:gd name="adj" fmla="val 12000"/>
            </a:avLst>
          </a:prstGeom>
          <a:solidFill>
            <a:srgbClr val="1D2D52"/>
          </a:solidFill>
          <a:ln w="12700">
            <a:solidFill>
              <a:srgbClr val="1D2D52"/>
            </a:solidFill>
            <a:prstDash val="solid"/>
          </a:ln>
        </p:spPr>
        <p:txBody>
          <a:bodyPr/>
          <a:p/>
        </p:txBody>
      </p:sp>
      <p:sp>
        <p:nvSpPr>
          <p:cNvPr id="12" name="Shape 8"/>
          <p:cNvSpPr/>
          <p:nvPr/>
        </p:nvSpPr>
        <p:spPr>
          <a:xfrm>
            <a:off x="3474720" y="2194560"/>
            <a:ext cx="594360" cy="594360"/>
          </a:xfrm>
          <a:prstGeom prst="ellipse">
            <a:avLst/>
          </a:prstGeom>
          <a:solidFill>
            <a:srgbClr val="2F5BD3"/>
          </a:solidFill>
          <a:ln w="12700">
            <a:solidFill>
              <a:srgbClr val="2F5BD3"/>
            </a:solidFill>
            <a:prstDash val="solid"/>
          </a:ln>
        </p:spPr>
        <p:txBody>
          <a:bodyPr/>
          <a:p/>
        </p:txBody>
      </p:sp>
      <p:sp>
        <p:nvSpPr>
          <p:cNvPr id="13" name="Text 9"/>
          <p:cNvSpPr txBox="1"/>
          <p:nvPr/>
        </p:nvSpPr>
        <p:spPr>
          <a:xfrm>
            <a:off x="3474720" y="219456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UI</a:t>
            </a:r>
            <a:endParaRPr lang="en-US" sz="1500" dirty="0"/>
          </a:p>
        </p:txBody>
      </p:sp>
      <p:sp>
        <p:nvSpPr>
          <p:cNvPr id="14" name="Text 10"/>
          <p:cNvSpPr txBox="1"/>
          <p:nvPr/>
        </p:nvSpPr>
        <p:spPr>
          <a:xfrm>
            <a:off x="4206240" y="2212848"/>
            <a:ext cx="141732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Member name</a:t>
            </a:r>
            <a:endParaRPr lang="en-US" sz="1400" dirty="0"/>
          </a:p>
        </p:txBody>
      </p:sp>
      <p:sp>
        <p:nvSpPr>
          <p:cNvPr id="15" name="Text 11"/>
          <p:cNvSpPr txBox="1"/>
          <p:nvPr/>
        </p:nvSpPr>
        <p:spPr>
          <a:xfrm>
            <a:off x="4206240" y="2505456"/>
            <a:ext cx="1417320" cy="274320"/>
          </a:xfrm>
          <a:prstGeom prst="rect">
            <a:avLst/>
          </a:prstGeom>
          <a:noFill/>
          <a:ln/>
        </p:spPr>
        <p:txBody>
          <a:bodyPr wrap="square" lIns="0" tIns="0" rIns="0" bIns="0" rtlCol="0" anchor="t"/>
          <a:lstStyle/>
          <a:p>
            <a:pPr indent="0" marL="0">
              <a:buNone/>
            </a:pPr>
            <a:r>
              <a:rPr lang="en-US" sz="1100" dirty="0">
                <a:solidFill>
                  <a:srgbClr val="9AA8C7"/>
                </a:solidFill>
                <a:latin typeface="Arial" pitchFamily="34" charset="0"/>
                <a:ea typeface="Arial" pitchFamily="34" charset="-122"/>
                <a:cs typeface="Arial" pitchFamily="34" charset="-120"/>
              </a:rPr>
              <a:t>Registration &amp; patient flow</a:t>
            </a:r>
            <a:endParaRPr lang="en-US" sz="1100" dirty="0"/>
          </a:p>
        </p:txBody>
      </p:sp>
      <p:sp>
        <p:nvSpPr>
          <p:cNvPr id="16" name="Shape 12"/>
          <p:cNvSpPr/>
          <p:nvPr/>
        </p:nvSpPr>
        <p:spPr>
          <a:xfrm>
            <a:off x="5943600" y="1920240"/>
            <a:ext cx="2468880" cy="1143000"/>
          </a:xfrm>
          <a:prstGeom prst="roundRect">
            <a:avLst>
              <a:gd name="adj" fmla="val 12000"/>
            </a:avLst>
          </a:prstGeom>
          <a:solidFill>
            <a:srgbClr val="1D2D52"/>
          </a:solidFill>
          <a:ln w="12700">
            <a:solidFill>
              <a:srgbClr val="1D2D52"/>
            </a:solidFill>
            <a:prstDash val="solid"/>
          </a:ln>
        </p:spPr>
        <p:txBody>
          <a:bodyPr/>
          <a:p/>
        </p:txBody>
      </p:sp>
      <p:sp>
        <p:nvSpPr>
          <p:cNvPr id="17" name="Shape 13"/>
          <p:cNvSpPr/>
          <p:nvPr/>
        </p:nvSpPr>
        <p:spPr>
          <a:xfrm>
            <a:off x="6172200" y="2194560"/>
            <a:ext cx="594360" cy="594360"/>
          </a:xfrm>
          <a:prstGeom prst="ellipse">
            <a:avLst/>
          </a:prstGeom>
          <a:solidFill>
            <a:srgbClr val="2F5BD3"/>
          </a:solidFill>
          <a:ln w="12700">
            <a:solidFill>
              <a:srgbClr val="2F5BD3"/>
            </a:solidFill>
            <a:prstDash val="solid"/>
          </a:ln>
        </p:spPr>
        <p:txBody>
          <a:bodyPr/>
          <a:p/>
        </p:txBody>
      </p:sp>
      <p:sp>
        <p:nvSpPr>
          <p:cNvPr id="18" name="Text 14"/>
          <p:cNvSpPr txBox="1"/>
          <p:nvPr/>
        </p:nvSpPr>
        <p:spPr>
          <a:xfrm>
            <a:off x="6172200" y="219456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DEV</a:t>
            </a:r>
            <a:endParaRPr lang="en-US" sz="1500" dirty="0"/>
          </a:p>
        </p:txBody>
      </p:sp>
      <p:sp>
        <p:nvSpPr>
          <p:cNvPr id="19" name="Text 15"/>
          <p:cNvSpPr txBox="1"/>
          <p:nvPr/>
        </p:nvSpPr>
        <p:spPr>
          <a:xfrm>
            <a:off x="6903720" y="2212848"/>
            <a:ext cx="141732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Member name</a:t>
            </a:r>
            <a:endParaRPr lang="en-US" sz="1400" dirty="0"/>
          </a:p>
        </p:txBody>
      </p:sp>
      <p:sp>
        <p:nvSpPr>
          <p:cNvPr id="20" name="Text 16"/>
          <p:cNvSpPr txBox="1"/>
          <p:nvPr/>
        </p:nvSpPr>
        <p:spPr>
          <a:xfrm>
            <a:off x="6903720" y="2505456"/>
            <a:ext cx="1417320" cy="274320"/>
          </a:xfrm>
          <a:prstGeom prst="rect">
            <a:avLst/>
          </a:prstGeom>
          <a:noFill/>
          <a:ln/>
        </p:spPr>
        <p:txBody>
          <a:bodyPr wrap="square" lIns="0" tIns="0" rIns="0" bIns="0" rtlCol="0" anchor="t"/>
          <a:lstStyle/>
          <a:p>
            <a:pPr indent="0" marL="0">
              <a:buNone/>
            </a:pPr>
            <a:r>
              <a:rPr lang="en-US" sz="1100" dirty="0">
                <a:solidFill>
                  <a:srgbClr val="9AA8C7"/>
                </a:solidFill>
                <a:latin typeface="Arial" pitchFamily="34" charset="0"/>
                <a:ea typeface="Arial" pitchFamily="34" charset="-122"/>
                <a:cs typeface="Arial" pitchFamily="34" charset="-120"/>
              </a:rPr>
              <a:t>Navigation &amp; staff dashboard</a:t>
            </a:r>
            <a:endParaRPr lang="en-US" sz="1100" dirty="0"/>
          </a:p>
        </p:txBody>
      </p:sp>
      <p:pic>
        <p:nvPicPr>
          <p:cNvPr id="21" name="Image 2" descr="preencoded.png">    </p:cNvPr>
          <p:cNvPicPr>
            <a:picLocks noChangeAspect="1"/>
          </p:cNvPicPr>
          <p:nvPr/>
        </p:nvPicPr>
        <p:blipFill>
          <a:blip r:embed="rId3"/>
          <a:stretch>
            <a:fillRect/>
          </a:stretch>
        </p:blipFill>
        <p:spPr>
          <a:xfrm>
            <a:off x="548640" y="3557016"/>
            <a:ext cx="256032" cy="256032"/>
          </a:xfrm>
          <a:prstGeom prst="rect">
            <a:avLst/>
          </a:prstGeom>
        </p:spPr>
      </p:pic>
      <p:sp>
        <p:nvSpPr>
          <p:cNvPr id="22" name="Text 17"/>
          <p:cNvSpPr txBox="1"/>
          <p:nvPr/>
        </p:nvSpPr>
        <p:spPr>
          <a:xfrm>
            <a:off x="960120" y="3520440"/>
            <a:ext cx="1097280" cy="329184"/>
          </a:xfrm>
          <a:prstGeom prst="rect">
            <a:avLst/>
          </a:prstGeom>
          <a:noFill/>
          <a:ln/>
        </p:spPr>
        <p:txBody>
          <a:bodyPr wrap="square" lIns="0" tIns="0" rIns="0" bIns="0" rtlCol="0" anchor="ctr"/>
          <a:lstStyle/>
          <a:p>
            <a:pPr indent="0" marL="0">
              <a:buNone/>
            </a:pPr>
            <a:r>
              <a:rPr lang="en-US" sz="1300" b="1" dirty="0">
                <a:solidFill>
                  <a:srgbClr val="B9C8F2"/>
                </a:solidFill>
                <a:latin typeface="Arial" pitchFamily="34" charset="0"/>
                <a:ea typeface="Arial" pitchFamily="34" charset="-122"/>
                <a:cs typeface="Arial" pitchFamily="34" charset="-120"/>
              </a:rPr>
              <a:t>Demo</a:t>
            </a:r>
            <a:endParaRPr lang="en-US" sz="1300" dirty="0"/>
          </a:p>
        </p:txBody>
      </p:sp>
      <p:sp>
        <p:nvSpPr>
          <p:cNvPr id="23" name="Text 18"/>
          <p:cNvSpPr txBox="1"/>
          <p:nvPr/>
        </p:nvSpPr>
        <p:spPr>
          <a:xfrm>
            <a:off x="2057400" y="3520440"/>
            <a:ext cx="5943600" cy="32918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Add demo URL before submission</a:t>
            </a:r>
            <a:endParaRPr lang="en-US" sz="1500" dirty="0"/>
          </a:p>
        </p:txBody>
      </p:sp>
      <p:pic>
        <p:nvPicPr>
          <p:cNvPr id="24" name="Image 3" descr="preencoded.png">    </p:cNvPr>
          <p:cNvPicPr>
            <a:picLocks noChangeAspect="1"/>
          </p:cNvPicPr>
          <p:nvPr/>
        </p:nvPicPr>
        <p:blipFill>
          <a:blip r:embed="rId4"/>
          <a:stretch>
            <a:fillRect/>
          </a:stretch>
        </p:blipFill>
        <p:spPr>
          <a:xfrm>
            <a:off x="548640" y="4059936"/>
            <a:ext cx="256032" cy="256032"/>
          </a:xfrm>
          <a:prstGeom prst="rect">
            <a:avLst/>
          </a:prstGeom>
        </p:spPr>
      </p:pic>
      <p:sp>
        <p:nvSpPr>
          <p:cNvPr id="25" name="Text 19"/>
          <p:cNvSpPr txBox="1"/>
          <p:nvPr/>
        </p:nvSpPr>
        <p:spPr>
          <a:xfrm>
            <a:off x="960120" y="4023360"/>
            <a:ext cx="1097280" cy="329184"/>
          </a:xfrm>
          <a:prstGeom prst="rect">
            <a:avLst/>
          </a:prstGeom>
          <a:noFill/>
          <a:ln/>
        </p:spPr>
        <p:txBody>
          <a:bodyPr wrap="square" lIns="0" tIns="0" rIns="0" bIns="0" rtlCol="0" anchor="ctr"/>
          <a:lstStyle/>
          <a:p>
            <a:pPr indent="0" marL="0">
              <a:buNone/>
            </a:pPr>
            <a:r>
              <a:rPr lang="en-US" sz="1300" b="1" dirty="0">
                <a:solidFill>
                  <a:srgbClr val="B9C8F2"/>
                </a:solidFill>
                <a:latin typeface="Arial" pitchFamily="34" charset="0"/>
                <a:ea typeface="Arial" pitchFamily="34" charset="-122"/>
                <a:cs typeface="Arial" pitchFamily="34" charset="-120"/>
              </a:rPr>
              <a:t>Code</a:t>
            </a:r>
            <a:endParaRPr lang="en-US" sz="1300" dirty="0"/>
          </a:p>
        </p:txBody>
      </p:sp>
      <p:sp>
        <p:nvSpPr>
          <p:cNvPr id="26" name="Text 20"/>
          <p:cNvSpPr txBox="1"/>
          <p:nvPr/>
        </p:nvSpPr>
        <p:spPr>
          <a:xfrm>
            <a:off x="2057400" y="4023360"/>
            <a:ext cx="5943600" cy="32918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Add GitHub URL before submission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Kagaz: sample pitch deck (HackCache 26)</dc:title>
  <dc:subject>PptxGenJS Presentation</dc:subject>
  <dc:creator>PptxGenJS</dc:creator>
  <cp:lastModifiedBy>PptxGenJS</cp:lastModifiedBy>
  <cp:revision>1</cp:revision>
  <dcterms:created xsi:type="dcterms:W3CDTF">2026-09-26T10:49:33Z</dcterms:created>
  <dcterms:modified xsi:type="dcterms:W3CDTF">2026-09-26T10:49:33Z</dcterms:modified>
</cp:coreProperties>
</file>